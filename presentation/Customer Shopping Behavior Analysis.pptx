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24384000" cy="13716000"/>
  <p:notesSz cx="13716000" cy="24384000"/>
  <p:embeddedFontLst>
    <p:embeddedFont>
      <p:font typeface="Liter" panose="020B0604020202020204" charset="0"/>
      <p:regular r:id="rId19"/>
    </p:embeddedFont>
    <p:embeddedFont>
      <p:font typeface="Quattrocento Sans" panose="020B0502050000020003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4F46E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3C-4B26-92EC-08F5A3CAED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46-49CB-9AE2-6676EB93D59F}"/>
              </c:ext>
            </c:extLst>
          </c:dPt>
          <c:dPt>
            <c:idx val="1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46-49CB-9AE2-6676EB93D59F}"/>
              </c:ext>
            </c:extLst>
          </c:dPt>
          <c:dPt>
            <c:idx val="2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46-49CB-9AE2-6676EB93D5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46-49CB-9AE2-6676EB93D5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46-49CB-9AE2-6676EB93D59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46-49CB-9AE2-6676EB93D5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Returning</c:v>
                </c:pt>
                <c:pt idx="2">
                  <c:v>Loyal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46-49CB-9AE2-6676EB93D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(%)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4F46E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Clothing</c:v>
                </c:pt>
                <c:pt idx="1">
                  <c:v>Footwear</c:v>
                </c:pt>
                <c:pt idx="2">
                  <c:v>Accessories</c:v>
                </c:pt>
                <c:pt idx="3">
                  <c:v>Electronics</c:v>
                </c:pt>
                <c:pt idx="4">
                  <c:v>Home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48</c:v>
                </c:pt>
                <c:pt idx="2">
                  <c:v>52</c:v>
                </c:pt>
                <c:pt idx="3">
                  <c:v>38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04-4EFB-969F-AEE70F926D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(%)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8B5CF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35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F7-4200-A5F7-BFE10F0F42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7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3CC5F-4EE1-0E81-6150-E8C0B61D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7BB09-5203-9D9E-D612-4878DB69C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2FA51-72C4-2BF4-84F2-923E1D1D9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13782-8727-22CA-B34C-F7E675A2D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91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F172A"/>
            </a:gs>
            <a:gs pos="40000">
              <a:srgbClr val="1E1B4B"/>
            </a:gs>
            <a:gs pos="70000">
              <a:srgbClr val="312E81"/>
            </a:gs>
            <a:gs pos="100000">
              <a:srgbClr val="4F46E5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0" y="1270000"/>
            <a:ext cx="7620000" cy="6350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25000"/>
                </a:srgbClr>
              </a:gs>
              <a:gs pos="100000">
                <a:srgbClr val="8B5CF6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270000" y="5080000"/>
            <a:ext cx="6350000" cy="6350000"/>
          </a:xfrm>
          <a:prstGeom prst="ellipse">
            <a:avLst/>
          </a:prstGeom>
          <a:gradFill flip="none" rotWithShape="1">
            <a:gsLst>
              <a:gs pos="0">
                <a:srgbClr val="EC4899">
                  <a:alpha val="19000"/>
                </a:srgbClr>
              </a:gs>
              <a:gs pos="100000">
                <a:srgbClr val="EC4899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244600" y="1016000"/>
            <a:ext cx="825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ANALYTICS PORTFOLIO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4600" y="2540000"/>
            <a:ext cx="1524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8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6096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7D2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Analytics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7112000"/>
            <a:ext cx="6350000" cy="0"/>
          </a:xfrm>
          <a:prstGeom prst="straightConnector1">
            <a:avLst/>
          </a:prstGeom>
          <a:noFill/>
          <a:ln w="2540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244600" y="7874000"/>
            <a:ext cx="2540000" cy="711200"/>
          </a:xfrm>
          <a:prstGeom prst="rect">
            <a:avLst/>
          </a:prstGeom>
          <a:solidFill>
            <a:srgbClr val="4F46E5">
              <a:alpha val="18824"/>
            </a:srgbClr>
          </a:solidFill>
          <a:ln w="12700">
            <a:solidFill>
              <a:srgbClr val="4F46E5">
                <a:alpha val="37647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4600" y="7874000"/>
            <a:ext cx="254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38600" y="7874000"/>
            <a:ext cx="2540000" cy="711200"/>
          </a:xfrm>
          <a:prstGeom prst="rect">
            <a:avLst/>
          </a:prstGeom>
          <a:solidFill>
            <a:srgbClr val="3B82F6">
              <a:alpha val="18824"/>
            </a:srgbClr>
          </a:solidFill>
          <a:ln w="12700">
            <a:solidFill>
              <a:srgbClr val="3B82F6">
                <a:alpha val="37647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8600" y="7874000"/>
            <a:ext cx="254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2600" y="7874000"/>
            <a:ext cx="2540000" cy="711200"/>
          </a:xfrm>
          <a:prstGeom prst="rect">
            <a:avLst/>
          </a:prstGeom>
          <a:solidFill>
            <a:srgbClr val="8B5CF6">
              <a:alpha val="18824"/>
            </a:srgbClr>
          </a:solidFill>
          <a:ln w="12700">
            <a:solidFill>
              <a:srgbClr val="8B5CF6">
                <a:alpha val="37647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2600" y="7874000"/>
            <a:ext cx="254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</a:t>
            </a:r>
            <a:endParaRPr lang="en-US" sz="1600" dirty="0"/>
          </a:p>
        </p:txBody>
      </p:sp>
      <p:pic>
        <p:nvPicPr>
          <p:cNvPr id="14" name="Image 0" descr="https://kimi-img.moonshot.cn/pub/slides/okc/paz3tyb6ozz2w/mnt/agents/output/customer_behavior_analysis/images/1_High_tech_Global_Data_Dashboard_Blue.png"/>
          <p:cNvPicPr>
            <a:picLocks noChangeAspect="1"/>
          </p:cNvPicPr>
          <p:nvPr/>
        </p:nvPicPr>
        <p:blipFill>
          <a:blip r:embed="rId3">
            <a:alphaModFix amt="35000"/>
          </a:blip>
          <a:srcRect l="21875" r="21875"/>
          <a:stretch/>
        </p:blipFill>
        <p:spPr>
          <a:xfrm>
            <a:off x="16510000" y="1905000"/>
            <a:ext cx="6604000" cy="6604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244600" y="10795000"/>
            <a:ext cx="5080000" cy="50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6" name="Shape 13"/>
          <p:cNvSpPr/>
          <p:nvPr/>
        </p:nvSpPr>
        <p:spPr>
          <a:xfrm>
            <a:off x="18059400" y="10795000"/>
            <a:ext cx="5080000" cy="50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1244600" y="1104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3,900 Customer Records · 18 Features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059400" y="1104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Analytics ·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50000">
              <a:srgbClr val="EEF2FF"/>
            </a:gs>
            <a:gs pos="100000">
              <a:srgbClr val="C7D2FE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4600" y="1651000"/>
            <a:ext cx="762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9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3302000"/>
            <a:ext cx="6350000" cy="0"/>
          </a:xfrm>
          <a:prstGeom prst="straightConnector1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244600" y="4318000"/>
            <a:ext cx="2082800" cy="184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9700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4600" y="6223000"/>
            <a:ext cx="4318000" cy="0"/>
          </a:xfrm>
          <a:prstGeom prst="straightConnector1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44600" y="647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4600" y="7620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problem, dataset structure, workflow &amp; data cleaning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4600" y="4318000"/>
            <a:ext cx="2082800" cy="184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9700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4600" y="6223000"/>
            <a:ext cx="4318000" cy="0"/>
          </a:xfrm>
          <a:prstGeom prst="straightConnector1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864600" y="647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4600" y="7620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business questions, key insights &amp; customer segmentation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84600" y="4318000"/>
            <a:ext cx="2082800" cy="184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9700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84600" y="6223000"/>
            <a:ext cx="4318000" cy="0"/>
          </a:xfrm>
          <a:prstGeom prst="straightConnector1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6484600" y="6477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&amp; Recommendations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84600" y="8382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visualization, business recommendations &amp; tech stack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4600" y="9525000"/>
            <a:ext cx="21894800" cy="508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50000">
                <a:srgbClr val="EC4899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1244600" y="1016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789400" y="1016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Slides ·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F172A"/>
            </a:gs>
            <a:gs pos="50000">
              <a:srgbClr val="1E1B4B"/>
            </a:gs>
            <a:gs pos="100000">
              <a:srgbClr val="312E8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0" y="2286000"/>
            <a:ext cx="10160000" cy="40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4500" dirty="0">
                <a:solidFill>
                  <a:srgbClr val="4F46E5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382000" y="6350000"/>
            <a:ext cx="7620000" cy="0"/>
          </a:xfrm>
          <a:prstGeom prst="straightConnector1">
            <a:avLst/>
          </a:prstGeom>
          <a:noFill/>
          <a:ln w="3810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4572000" y="6731000"/>
            <a:ext cx="1524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8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42000" y="8382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business problem, dataset, and 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635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0" y="635000"/>
            <a:ext cx="533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244600" y="1282700"/>
            <a:ext cx="8001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1574800"/>
            <a:ext cx="13462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190624" y="2432048"/>
            <a:ext cx="21821776" cy="2159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latin typeface="Liter" panose="020B0604020202020204" charset="0"/>
              </a:rPr>
              <a:t>A leading retail company wants to better understand its customers’ shopping behavior in order to improve sales, customer satisfaction, and long-term loyalty. The management team has noticed</a:t>
            </a:r>
          </a:p>
          <a:p>
            <a:pPr>
              <a:lnSpc>
                <a:spcPct val="140000"/>
              </a:lnSpc>
            </a:pPr>
            <a:r>
              <a:rPr lang="en-US" sz="2000" dirty="0">
                <a:latin typeface="Liter" panose="020B0604020202020204" charset="0"/>
              </a:rPr>
              <a:t> changes in purchasing patterns across demographics,  product categories, and sales channels (online vs. offline). </a:t>
            </a:r>
          </a:p>
          <a:p>
            <a:pPr>
              <a:lnSpc>
                <a:spcPct val="140000"/>
              </a:lnSpc>
            </a:pPr>
            <a:r>
              <a:rPr lang="en-US" sz="2000" dirty="0">
                <a:latin typeface="Liter" panose="020B0604020202020204" charset="0"/>
              </a:rPr>
              <a:t>They are particularly interested in uncovering which factors, such  as discounts, reviews, seasons, or payment preferences, drive consumer decisions and repeat purchases. You are tasked with</a:t>
            </a:r>
          </a:p>
          <a:p>
            <a:pPr>
              <a:lnSpc>
                <a:spcPct val="140000"/>
              </a:lnSpc>
            </a:pPr>
            <a:r>
              <a:rPr lang="en-US" sz="2000" dirty="0">
                <a:latin typeface="Liter" panose="020B0604020202020204" charset="0"/>
              </a:rPr>
              <a:t> analyzing the company’s consumer behavior dataset to answer the following overarching business question: </a:t>
            </a:r>
          </a:p>
          <a:p>
            <a:pPr>
              <a:lnSpc>
                <a:spcPct val="140000"/>
              </a:lnSpc>
            </a:pPr>
            <a:r>
              <a:rPr lang="en-US" sz="2000" b="1" dirty="0">
                <a:latin typeface="Liter" panose="020B0604020202020204" charset="0"/>
              </a:rPr>
              <a:t>“How can the company leverage consumer shopping data to identify trends, improve customer engagement, and optimize marketing and product strategies?” </a:t>
            </a:r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8890000" cy="863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826000"/>
            <a:ext cx="101600" cy="863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727200" y="4864100"/>
            <a:ext cx="825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6096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retail company wants to understand customer purchasing behavior to improve </a:t>
            </a: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engagement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subscriptions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strategies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8890000"/>
            <a:ext cx="8890000" cy="3048000"/>
          </a:xfrm>
          <a:prstGeom prst="rect">
            <a:avLst/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72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2413000" y="914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Question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27200" y="9906000"/>
            <a:ext cx="825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"How can the company leverage consumer shopping data to identify trends, improve customer engagement, and optimize marketing and product strategies?"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4826000"/>
            <a:ext cx="12090400" cy="7112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22000" y="4826000"/>
            <a:ext cx="12090400" cy="863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303000" y="4864100"/>
            <a:ext cx="11303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30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11938000" y="60325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spending patterns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customer demographics and product categories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245850" y="7239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11938000" y="71755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customers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purchase behavior and subscription status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331575" y="838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11938000" y="83185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subscription behavior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boost retention and engagement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274425" y="952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58259" y="34915"/>
                </a:moveTo>
                <a:lnTo>
                  <a:pt x="490597" y="169128"/>
                </a:lnTo>
                <a:cubicBezTo>
                  <a:pt x="515332" y="194221"/>
                  <a:pt x="515332" y="234404"/>
                  <a:pt x="490597" y="259497"/>
                </a:cubicBezTo>
                <a:lnTo>
                  <a:pt x="350937" y="400854"/>
                </a:lnTo>
                <a:cubicBezTo>
                  <a:pt x="342632" y="409248"/>
                  <a:pt x="329059" y="409337"/>
                  <a:pt x="320665" y="401032"/>
                </a:cubicBezTo>
                <a:cubicBezTo>
                  <a:pt x="312271" y="392728"/>
                  <a:pt x="312182" y="379155"/>
                  <a:pt x="320486" y="370761"/>
                </a:cubicBezTo>
                <a:lnTo>
                  <a:pt x="460147" y="229314"/>
                </a:lnTo>
                <a:cubicBezTo>
                  <a:pt x="468362" y="221010"/>
                  <a:pt x="468362" y="207526"/>
                  <a:pt x="460147" y="199221"/>
                </a:cubicBezTo>
                <a:lnTo>
                  <a:pt x="327720" y="65097"/>
                </a:lnTo>
                <a:cubicBezTo>
                  <a:pt x="319415" y="56704"/>
                  <a:pt x="319504" y="43130"/>
                  <a:pt x="327898" y="34826"/>
                </a:cubicBezTo>
                <a:cubicBezTo>
                  <a:pt x="336292" y="26521"/>
                  <a:pt x="349865" y="26610"/>
                  <a:pt x="358170" y="35004"/>
                </a:cubicBezTo>
                <a:close/>
                <a:moveTo>
                  <a:pt x="28664" y="204936"/>
                </a:moveTo>
                <a:lnTo>
                  <a:pt x="28664" y="85725"/>
                </a:lnTo>
                <a:cubicBezTo>
                  <a:pt x="28664" y="54203"/>
                  <a:pt x="54293" y="28575"/>
                  <a:pt x="85814" y="28575"/>
                </a:cubicBezTo>
                <a:lnTo>
                  <a:pt x="205026" y="28575"/>
                </a:lnTo>
                <a:cubicBezTo>
                  <a:pt x="220206" y="28575"/>
                  <a:pt x="234761" y="34558"/>
                  <a:pt x="245477" y="45274"/>
                </a:cubicBezTo>
                <a:lnTo>
                  <a:pt x="374065" y="173861"/>
                </a:lnTo>
                <a:cubicBezTo>
                  <a:pt x="396389" y="196185"/>
                  <a:pt x="396389" y="232350"/>
                  <a:pt x="374065" y="254675"/>
                </a:cubicBezTo>
                <a:lnTo>
                  <a:pt x="254853" y="373886"/>
                </a:lnTo>
                <a:cubicBezTo>
                  <a:pt x="232529" y="396210"/>
                  <a:pt x="196364" y="396210"/>
                  <a:pt x="174040" y="373886"/>
                </a:cubicBezTo>
                <a:lnTo>
                  <a:pt x="45452" y="245299"/>
                </a:lnTo>
                <a:cubicBezTo>
                  <a:pt x="34736" y="234583"/>
                  <a:pt x="28754" y="220027"/>
                  <a:pt x="28754" y="204847"/>
                </a:cubicBezTo>
                <a:close/>
                <a:moveTo>
                  <a:pt x="157252" y="128588"/>
                </a:moveTo>
                <a:cubicBezTo>
                  <a:pt x="157252" y="112817"/>
                  <a:pt x="144448" y="100013"/>
                  <a:pt x="128677" y="100013"/>
                </a:cubicBezTo>
                <a:cubicBezTo>
                  <a:pt x="112906" y="100013"/>
                  <a:pt x="100102" y="112817"/>
                  <a:pt x="100102" y="128588"/>
                </a:cubicBezTo>
                <a:cubicBezTo>
                  <a:pt x="100102" y="144358"/>
                  <a:pt x="112906" y="157163"/>
                  <a:pt x="128677" y="157163"/>
                </a:cubicBezTo>
                <a:cubicBezTo>
                  <a:pt x="144448" y="157163"/>
                  <a:pt x="157252" y="144358"/>
                  <a:pt x="157252" y="128588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11938000" y="94615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 product preferences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optimize inventory and marketing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45850" y="10668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371475" y="28575"/>
                </a:lnTo>
                <a:cubicBezTo>
                  <a:pt x="402997" y="28575"/>
                  <a:pt x="428625" y="54203"/>
                  <a:pt x="428625" y="85725"/>
                </a:cubicBezTo>
                <a:lnTo>
                  <a:pt x="428625" y="114300"/>
                </a:lnTo>
                <a:lnTo>
                  <a:pt x="473899" y="114300"/>
                </a:lnTo>
                <a:cubicBezTo>
                  <a:pt x="489079" y="114300"/>
                  <a:pt x="503634" y="120283"/>
                  <a:pt x="514350" y="130999"/>
                </a:cubicBezTo>
                <a:lnTo>
                  <a:pt x="554801" y="171450"/>
                </a:lnTo>
                <a:cubicBezTo>
                  <a:pt x="565517" y="182166"/>
                  <a:pt x="571500" y="196721"/>
                  <a:pt x="571500" y="211901"/>
                </a:cubicBezTo>
                <a:lnTo>
                  <a:pt x="571500" y="342900"/>
                </a:lnTo>
                <a:cubicBezTo>
                  <a:pt x="571500" y="374422"/>
                  <a:pt x="545872" y="400050"/>
                  <a:pt x="514350" y="400050"/>
                </a:cubicBezTo>
                <a:lnTo>
                  <a:pt x="511403" y="400050"/>
                </a:lnTo>
                <a:cubicBezTo>
                  <a:pt x="502116" y="433001"/>
                  <a:pt x="471755" y="457200"/>
                  <a:pt x="435769" y="457200"/>
                </a:cubicBezTo>
                <a:cubicBezTo>
                  <a:pt x="399782" y="457200"/>
                  <a:pt x="369510" y="433001"/>
                  <a:pt x="360134" y="400050"/>
                </a:cubicBezTo>
                <a:lnTo>
                  <a:pt x="268516" y="400050"/>
                </a:lnTo>
                <a:cubicBezTo>
                  <a:pt x="259229" y="433001"/>
                  <a:pt x="228868" y="457200"/>
                  <a:pt x="192881" y="457200"/>
                </a:cubicBezTo>
                <a:cubicBezTo>
                  <a:pt x="156895" y="457200"/>
                  <a:pt x="126623" y="433001"/>
                  <a:pt x="117247" y="400050"/>
                </a:cubicBezTo>
                <a:lnTo>
                  <a:pt x="114300" y="400050"/>
                </a:lnTo>
                <a:cubicBezTo>
                  <a:pt x="82778" y="400050"/>
                  <a:pt x="57150" y="374422"/>
                  <a:pt x="57150" y="342900"/>
                </a:cubicBez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290483"/>
                  <a:pt x="0" y="278606"/>
                </a:cubicBezTo>
                <a:cubicBezTo>
                  <a:pt x="0" y="266730"/>
                  <a:pt x="9555" y="257175"/>
                  <a:pt x="21431" y="257175"/>
                </a:cubicBezTo>
                <a:lnTo>
                  <a:pt x="121444" y="257175"/>
                </a:lnTo>
                <a:cubicBezTo>
                  <a:pt x="133320" y="257175"/>
                  <a:pt x="142875" y="247620"/>
                  <a:pt x="142875" y="235744"/>
                </a:cubicBezTo>
                <a:cubicBezTo>
                  <a:pt x="142875" y="223867"/>
                  <a:pt x="133320" y="214313"/>
                  <a:pt x="121444" y="214313"/>
                </a:cubicBezTo>
                <a:lnTo>
                  <a:pt x="21431" y="214313"/>
                </a:lnTo>
                <a:cubicBezTo>
                  <a:pt x="9555" y="214313"/>
                  <a:pt x="0" y="204758"/>
                  <a:pt x="0" y="192881"/>
                </a:cubicBezTo>
                <a:cubicBezTo>
                  <a:pt x="0" y="181005"/>
                  <a:pt x="9555" y="171450"/>
                  <a:pt x="21431" y="171450"/>
                </a:cubicBezTo>
                <a:lnTo>
                  <a:pt x="178594" y="171450"/>
                </a:lnTo>
                <a:cubicBezTo>
                  <a:pt x="190470" y="171450"/>
                  <a:pt x="200025" y="161895"/>
                  <a:pt x="200025" y="150019"/>
                </a:cubicBezTo>
                <a:cubicBezTo>
                  <a:pt x="200025" y="138142"/>
                  <a:pt x="190470" y="128588"/>
                  <a:pt x="178594" y="128588"/>
                </a:cubicBezTo>
                <a:lnTo>
                  <a:pt x="21431" y="128588"/>
                </a:lnTo>
                <a:cubicBezTo>
                  <a:pt x="9555" y="128588"/>
                  <a:pt x="0" y="119033"/>
                  <a:pt x="0" y="107156"/>
                </a:cubicBezTo>
                <a:cubicBezTo>
                  <a:pt x="0" y="95280"/>
                  <a:pt x="9555" y="85725"/>
                  <a:pt x="21431" y="85725"/>
                </a:cubicBezTo>
                <a:lnTo>
                  <a:pt x="57150" y="85725"/>
                </a:lnTo>
                <a:close/>
                <a:moveTo>
                  <a:pt x="514350" y="257175"/>
                </a:moveTo>
                <a:lnTo>
                  <a:pt x="514350" y="211901"/>
                </a:lnTo>
                <a:lnTo>
                  <a:pt x="473899" y="171450"/>
                </a:lnTo>
                <a:lnTo>
                  <a:pt x="428625" y="171450"/>
                </a:lnTo>
                <a:lnTo>
                  <a:pt x="428625" y="257175"/>
                </a:lnTo>
                <a:lnTo>
                  <a:pt x="514350" y="257175"/>
                </a:lnTo>
                <a:close/>
                <a:moveTo>
                  <a:pt x="228600" y="378619"/>
                </a:moveTo>
                <a:cubicBezTo>
                  <a:pt x="228600" y="358905"/>
                  <a:pt x="212595" y="342900"/>
                  <a:pt x="192881" y="342900"/>
                </a:cubicBezTo>
                <a:cubicBezTo>
                  <a:pt x="173168" y="342900"/>
                  <a:pt x="157163" y="358905"/>
                  <a:pt x="157163" y="378619"/>
                </a:cubicBezTo>
                <a:cubicBezTo>
                  <a:pt x="157163" y="398332"/>
                  <a:pt x="173168" y="414338"/>
                  <a:pt x="192881" y="414338"/>
                </a:cubicBezTo>
                <a:cubicBezTo>
                  <a:pt x="212595" y="414338"/>
                  <a:pt x="228600" y="398332"/>
                  <a:pt x="228600" y="378619"/>
                </a:cubicBezTo>
                <a:close/>
                <a:moveTo>
                  <a:pt x="435769" y="414338"/>
                </a:moveTo>
                <a:cubicBezTo>
                  <a:pt x="455482" y="414338"/>
                  <a:pt x="471488" y="398332"/>
                  <a:pt x="471488" y="378619"/>
                </a:cubicBezTo>
                <a:cubicBezTo>
                  <a:pt x="471488" y="358905"/>
                  <a:pt x="455482" y="342900"/>
                  <a:pt x="435769" y="342900"/>
                </a:cubicBezTo>
                <a:cubicBezTo>
                  <a:pt x="416055" y="342900"/>
                  <a:pt x="400050" y="358905"/>
                  <a:pt x="400050" y="378619"/>
                </a:cubicBezTo>
                <a:cubicBezTo>
                  <a:pt x="400050" y="398332"/>
                  <a:pt x="416055" y="414338"/>
                  <a:pt x="435769" y="414338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11938000" y="106045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shipping preferences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discount impact on revenue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9017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4000" y="1574800"/>
            <a:ext cx="12446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3302000" cy="355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9525" y="5080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488950" y="224611"/>
                </a:moveTo>
                <a:cubicBezTo>
                  <a:pt x="472797" y="235307"/>
                  <a:pt x="454243" y="243929"/>
                  <a:pt x="434925" y="250805"/>
                </a:cubicBezTo>
                <a:cubicBezTo>
                  <a:pt x="383629" y="269141"/>
                  <a:pt x="316290" y="279400"/>
                  <a:pt x="244475" y="279400"/>
                </a:cubicBezTo>
                <a:cubicBezTo>
                  <a:pt x="172660" y="279400"/>
                  <a:pt x="105212" y="269032"/>
                  <a:pt x="54025" y="250805"/>
                </a:cubicBezTo>
                <a:cubicBezTo>
                  <a:pt x="34816" y="243929"/>
                  <a:pt x="16153" y="235307"/>
                  <a:pt x="0" y="224611"/>
                </a:cubicBezTo>
                <a:lnTo>
                  <a:pt x="0" y="314325"/>
                </a:lnTo>
                <a:cubicBezTo>
                  <a:pt x="0" y="362565"/>
                  <a:pt x="109468" y="401637"/>
                  <a:pt x="244475" y="401637"/>
                </a:cubicBezTo>
                <a:cubicBezTo>
                  <a:pt x="379482" y="401637"/>
                  <a:pt x="488950" y="362565"/>
                  <a:pt x="488950" y="314325"/>
                </a:cubicBezTo>
                <a:lnTo>
                  <a:pt x="488950" y="224611"/>
                </a:lnTo>
                <a:close/>
                <a:moveTo>
                  <a:pt x="488950" y="139700"/>
                </a:moveTo>
                <a:lnTo>
                  <a:pt x="488950" y="87313"/>
                </a:lnTo>
                <a:cubicBezTo>
                  <a:pt x="488950" y="39072"/>
                  <a:pt x="379482" y="0"/>
                  <a:pt x="244475" y="0"/>
                </a:cubicBezTo>
                <a:cubicBezTo>
                  <a:pt x="109468" y="0"/>
                  <a:pt x="0" y="39072"/>
                  <a:pt x="0" y="87313"/>
                </a:cubicBezTo>
                <a:lnTo>
                  <a:pt x="0" y="139700"/>
                </a:lnTo>
                <a:cubicBezTo>
                  <a:pt x="0" y="187940"/>
                  <a:pt x="109468" y="227013"/>
                  <a:pt x="244475" y="227013"/>
                </a:cubicBezTo>
                <a:cubicBezTo>
                  <a:pt x="379482" y="227013"/>
                  <a:pt x="488950" y="187940"/>
                  <a:pt x="488950" y="139700"/>
                </a:cubicBezTo>
                <a:close/>
                <a:moveTo>
                  <a:pt x="434925" y="425430"/>
                </a:moveTo>
                <a:cubicBezTo>
                  <a:pt x="383738" y="443657"/>
                  <a:pt x="316399" y="454025"/>
                  <a:pt x="244475" y="454025"/>
                </a:cubicBezTo>
                <a:cubicBezTo>
                  <a:pt x="172551" y="454025"/>
                  <a:pt x="105212" y="443657"/>
                  <a:pt x="54025" y="425430"/>
                </a:cubicBezTo>
                <a:cubicBezTo>
                  <a:pt x="34816" y="418554"/>
                  <a:pt x="16153" y="409932"/>
                  <a:pt x="0" y="399236"/>
                </a:cubicBezTo>
                <a:lnTo>
                  <a:pt x="0" y="471488"/>
                </a:lnTo>
                <a:cubicBezTo>
                  <a:pt x="0" y="519728"/>
                  <a:pt x="109468" y="558800"/>
                  <a:pt x="244475" y="558800"/>
                </a:cubicBezTo>
                <a:cubicBezTo>
                  <a:pt x="379482" y="558800"/>
                  <a:pt x="488950" y="519728"/>
                  <a:pt x="488950" y="471488"/>
                </a:cubicBezTo>
                <a:lnTo>
                  <a:pt x="488950" y="399236"/>
                </a:lnTo>
                <a:cubicBezTo>
                  <a:pt x="472797" y="409932"/>
                  <a:pt x="454243" y="418554"/>
                  <a:pt x="434925" y="42543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6256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25600" y="6413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3,900 customer purchase records with 18 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6223000"/>
            <a:ext cx="508000" cy="0"/>
          </a:xfrm>
          <a:prstGeom prst="straightConnector1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435600" y="4826000"/>
            <a:ext cx="3302000" cy="3556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3675" y="5080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393779" y="1310"/>
                </a:moveTo>
                <a:cubicBezTo>
                  <a:pt x="375225" y="-4038"/>
                  <a:pt x="355908" y="6767"/>
                  <a:pt x="350560" y="25321"/>
                </a:cubicBezTo>
                <a:lnTo>
                  <a:pt x="210860" y="514271"/>
                </a:lnTo>
                <a:cubicBezTo>
                  <a:pt x="205512" y="532825"/>
                  <a:pt x="216317" y="552142"/>
                  <a:pt x="234871" y="557490"/>
                </a:cubicBezTo>
                <a:cubicBezTo>
                  <a:pt x="253425" y="562838"/>
                  <a:pt x="272742" y="552033"/>
                  <a:pt x="278090" y="533479"/>
                </a:cubicBezTo>
                <a:lnTo>
                  <a:pt x="417790" y="44529"/>
                </a:lnTo>
                <a:cubicBezTo>
                  <a:pt x="423138" y="25975"/>
                  <a:pt x="412333" y="6658"/>
                  <a:pt x="393779" y="1310"/>
                </a:cubicBezTo>
                <a:close/>
                <a:moveTo>
                  <a:pt x="464284" y="149850"/>
                </a:moveTo>
                <a:cubicBezTo>
                  <a:pt x="450642" y="163493"/>
                  <a:pt x="450642" y="185648"/>
                  <a:pt x="464284" y="199291"/>
                </a:cubicBezTo>
                <a:lnTo>
                  <a:pt x="544393" y="279400"/>
                </a:lnTo>
                <a:lnTo>
                  <a:pt x="464284" y="359509"/>
                </a:lnTo>
                <a:cubicBezTo>
                  <a:pt x="450642" y="373152"/>
                  <a:pt x="450642" y="395307"/>
                  <a:pt x="464284" y="408950"/>
                </a:cubicBezTo>
                <a:cubicBezTo>
                  <a:pt x="477927" y="422592"/>
                  <a:pt x="500082" y="422592"/>
                  <a:pt x="513725" y="408950"/>
                </a:cubicBezTo>
                <a:lnTo>
                  <a:pt x="618500" y="304175"/>
                </a:lnTo>
                <a:cubicBezTo>
                  <a:pt x="632142" y="290532"/>
                  <a:pt x="632142" y="268377"/>
                  <a:pt x="618500" y="254734"/>
                </a:cubicBezTo>
                <a:lnTo>
                  <a:pt x="513725" y="149959"/>
                </a:lnTo>
                <a:cubicBezTo>
                  <a:pt x="500082" y="136317"/>
                  <a:pt x="477927" y="136317"/>
                  <a:pt x="464284" y="149959"/>
                </a:cubicBezTo>
                <a:close/>
                <a:moveTo>
                  <a:pt x="164475" y="149850"/>
                </a:moveTo>
                <a:cubicBezTo>
                  <a:pt x="150832" y="136208"/>
                  <a:pt x="128677" y="136208"/>
                  <a:pt x="115034" y="149850"/>
                </a:cubicBezTo>
                <a:lnTo>
                  <a:pt x="10259" y="254625"/>
                </a:lnTo>
                <a:cubicBezTo>
                  <a:pt x="-3383" y="268268"/>
                  <a:pt x="-3383" y="290423"/>
                  <a:pt x="10259" y="304066"/>
                </a:cubicBezTo>
                <a:lnTo>
                  <a:pt x="115034" y="408841"/>
                </a:lnTo>
                <a:cubicBezTo>
                  <a:pt x="128677" y="422483"/>
                  <a:pt x="150832" y="422483"/>
                  <a:pt x="164475" y="408841"/>
                </a:cubicBezTo>
                <a:cubicBezTo>
                  <a:pt x="178118" y="395198"/>
                  <a:pt x="178118" y="373043"/>
                  <a:pt x="164475" y="359400"/>
                </a:cubicBezTo>
                <a:lnTo>
                  <a:pt x="84366" y="279400"/>
                </a:lnTo>
                <a:lnTo>
                  <a:pt x="164366" y="199291"/>
                </a:lnTo>
                <a:cubicBezTo>
                  <a:pt x="178008" y="185648"/>
                  <a:pt x="178008" y="163493"/>
                  <a:pt x="164366" y="1498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6896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89600" y="6413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cleaning, feature engineering with Pandas &amp; NumPy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64600" y="6223000"/>
            <a:ext cx="508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499600" y="4826000"/>
            <a:ext cx="3302000" cy="355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77525" y="5080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69850" y="34925"/>
                </a:moveTo>
                <a:cubicBezTo>
                  <a:pt x="31323" y="34925"/>
                  <a:pt x="0" y="66248"/>
                  <a:pt x="0" y="104775"/>
                </a:cubicBezTo>
                <a:lnTo>
                  <a:pt x="0" y="174625"/>
                </a:lnTo>
                <a:cubicBezTo>
                  <a:pt x="0" y="213152"/>
                  <a:pt x="31323" y="244475"/>
                  <a:pt x="69850" y="244475"/>
                </a:cubicBezTo>
                <a:lnTo>
                  <a:pt x="419100" y="244475"/>
                </a:lnTo>
                <a:cubicBezTo>
                  <a:pt x="457627" y="244475"/>
                  <a:pt x="488950" y="213152"/>
                  <a:pt x="488950" y="174625"/>
                </a:cubicBezTo>
                <a:lnTo>
                  <a:pt x="488950" y="104775"/>
                </a:lnTo>
                <a:cubicBezTo>
                  <a:pt x="488950" y="66248"/>
                  <a:pt x="457627" y="34925"/>
                  <a:pt x="419100" y="34925"/>
                </a:cubicBezTo>
                <a:lnTo>
                  <a:pt x="69850" y="34925"/>
                </a:lnTo>
                <a:close/>
                <a:moveTo>
                  <a:pt x="305594" y="113506"/>
                </a:moveTo>
                <a:cubicBezTo>
                  <a:pt x="320050" y="113506"/>
                  <a:pt x="331788" y="125243"/>
                  <a:pt x="331788" y="139700"/>
                </a:cubicBezTo>
                <a:cubicBezTo>
                  <a:pt x="331788" y="154157"/>
                  <a:pt x="320050" y="165894"/>
                  <a:pt x="305594" y="165894"/>
                </a:cubicBezTo>
                <a:cubicBezTo>
                  <a:pt x="291137" y="165894"/>
                  <a:pt x="279400" y="154157"/>
                  <a:pt x="279400" y="139700"/>
                </a:cubicBezTo>
                <a:cubicBezTo>
                  <a:pt x="279400" y="125243"/>
                  <a:pt x="291137" y="113506"/>
                  <a:pt x="305594" y="113506"/>
                </a:cubicBezTo>
                <a:close/>
                <a:moveTo>
                  <a:pt x="366713" y="139700"/>
                </a:moveTo>
                <a:cubicBezTo>
                  <a:pt x="366713" y="125243"/>
                  <a:pt x="378450" y="113506"/>
                  <a:pt x="392906" y="113506"/>
                </a:cubicBezTo>
                <a:cubicBezTo>
                  <a:pt x="407363" y="113506"/>
                  <a:pt x="419100" y="125243"/>
                  <a:pt x="419100" y="139700"/>
                </a:cubicBezTo>
                <a:cubicBezTo>
                  <a:pt x="419100" y="154157"/>
                  <a:pt x="407363" y="165894"/>
                  <a:pt x="392906" y="165894"/>
                </a:cubicBezTo>
                <a:cubicBezTo>
                  <a:pt x="378450" y="165894"/>
                  <a:pt x="366713" y="154157"/>
                  <a:pt x="366713" y="139700"/>
                </a:cubicBezTo>
                <a:close/>
                <a:moveTo>
                  <a:pt x="69850" y="314325"/>
                </a:moveTo>
                <a:cubicBezTo>
                  <a:pt x="31323" y="314325"/>
                  <a:pt x="0" y="345648"/>
                  <a:pt x="0" y="384175"/>
                </a:cubicBezTo>
                <a:lnTo>
                  <a:pt x="0" y="454025"/>
                </a:lnTo>
                <a:cubicBezTo>
                  <a:pt x="0" y="492552"/>
                  <a:pt x="31323" y="523875"/>
                  <a:pt x="69850" y="523875"/>
                </a:cubicBezTo>
                <a:lnTo>
                  <a:pt x="419100" y="523875"/>
                </a:lnTo>
                <a:cubicBezTo>
                  <a:pt x="457627" y="523875"/>
                  <a:pt x="488950" y="492552"/>
                  <a:pt x="488950" y="454025"/>
                </a:cubicBezTo>
                <a:lnTo>
                  <a:pt x="488950" y="384175"/>
                </a:lnTo>
                <a:cubicBezTo>
                  <a:pt x="488950" y="345648"/>
                  <a:pt x="457627" y="314325"/>
                  <a:pt x="419100" y="314325"/>
                </a:cubicBezTo>
                <a:lnTo>
                  <a:pt x="69850" y="314325"/>
                </a:lnTo>
                <a:close/>
                <a:moveTo>
                  <a:pt x="305594" y="392906"/>
                </a:moveTo>
                <a:cubicBezTo>
                  <a:pt x="320050" y="392906"/>
                  <a:pt x="331788" y="404643"/>
                  <a:pt x="331788" y="419100"/>
                </a:cubicBezTo>
                <a:cubicBezTo>
                  <a:pt x="331788" y="433557"/>
                  <a:pt x="320050" y="445294"/>
                  <a:pt x="305594" y="445294"/>
                </a:cubicBezTo>
                <a:cubicBezTo>
                  <a:pt x="291137" y="445294"/>
                  <a:pt x="279400" y="433557"/>
                  <a:pt x="279400" y="419100"/>
                </a:cubicBezTo>
                <a:cubicBezTo>
                  <a:pt x="279400" y="404643"/>
                  <a:pt x="291137" y="392906"/>
                  <a:pt x="305594" y="392906"/>
                </a:cubicBezTo>
                <a:close/>
                <a:moveTo>
                  <a:pt x="366713" y="419100"/>
                </a:moveTo>
                <a:cubicBezTo>
                  <a:pt x="366713" y="404643"/>
                  <a:pt x="378450" y="392906"/>
                  <a:pt x="392906" y="392906"/>
                </a:cubicBezTo>
                <a:cubicBezTo>
                  <a:pt x="407363" y="392906"/>
                  <a:pt x="419100" y="404643"/>
                  <a:pt x="419100" y="419100"/>
                </a:cubicBezTo>
                <a:cubicBezTo>
                  <a:pt x="419100" y="433557"/>
                  <a:pt x="407363" y="445294"/>
                  <a:pt x="392906" y="445294"/>
                </a:cubicBezTo>
                <a:cubicBezTo>
                  <a:pt x="378450" y="445294"/>
                  <a:pt x="366713" y="433557"/>
                  <a:pt x="366713" y="4191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53600" y="6413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analysis with 10 business questions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928600" y="6223000"/>
            <a:ext cx="508000" cy="0"/>
          </a:xfrm>
          <a:prstGeom prst="straightConnector1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563600" y="4826000"/>
            <a:ext cx="3302000" cy="3556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71675" y="5080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559237" y="261938"/>
                </a:moveTo>
                <a:lnTo>
                  <a:pt x="367149" y="261938"/>
                </a:lnTo>
                <a:cubicBezTo>
                  <a:pt x="347831" y="261938"/>
                  <a:pt x="332224" y="246330"/>
                  <a:pt x="332224" y="227013"/>
                </a:cubicBezTo>
                <a:lnTo>
                  <a:pt x="332224" y="34925"/>
                </a:lnTo>
                <a:cubicBezTo>
                  <a:pt x="332224" y="15607"/>
                  <a:pt x="347940" y="-218"/>
                  <a:pt x="367040" y="2292"/>
                </a:cubicBezTo>
                <a:cubicBezTo>
                  <a:pt x="483820" y="17790"/>
                  <a:pt x="576372" y="110341"/>
                  <a:pt x="591870" y="227122"/>
                </a:cubicBezTo>
                <a:cubicBezTo>
                  <a:pt x="594380" y="246221"/>
                  <a:pt x="578554" y="261938"/>
                  <a:pt x="559237" y="261938"/>
                </a:cubicBezTo>
                <a:close/>
                <a:moveTo>
                  <a:pt x="242947" y="40600"/>
                </a:moveTo>
                <a:cubicBezTo>
                  <a:pt x="262701" y="36453"/>
                  <a:pt x="279837" y="52606"/>
                  <a:pt x="279837" y="72797"/>
                </a:cubicBezTo>
                <a:lnTo>
                  <a:pt x="279837" y="288131"/>
                </a:lnTo>
                <a:cubicBezTo>
                  <a:pt x="279837" y="294243"/>
                  <a:pt x="282019" y="300137"/>
                  <a:pt x="285839" y="304830"/>
                </a:cubicBezTo>
                <a:lnTo>
                  <a:pt x="430014" y="478800"/>
                </a:lnTo>
                <a:cubicBezTo>
                  <a:pt x="442784" y="494189"/>
                  <a:pt x="440055" y="517436"/>
                  <a:pt x="422483" y="526931"/>
                </a:cubicBezTo>
                <a:cubicBezTo>
                  <a:pt x="385266" y="547231"/>
                  <a:pt x="342592" y="558800"/>
                  <a:pt x="297299" y="558800"/>
                </a:cubicBezTo>
                <a:cubicBezTo>
                  <a:pt x="152688" y="558800"/>
                  <a:pt x="35362" y="441474"/>
                  <a:pt x="35362" y="296863"/>
                </a:cubicBezTo>
                <a:cubicBezTo>
                  <a:pt x="35362" y="170805"/>
                  <a:pt x="124311" y="65594"/>
                  <a:pt x="242947" y="40600"/>
                </a:cubicBezTo>
                <a:close/>
                <a:moveTo>
                  <a:pt x="521474" y="314325"/>
                </a:moveTo>
                <a:lnTo>
                  <a:pt x="591324" y="314325"/>
                </a:lnTo>
                <a:cubicBezTo>
                  <a:pt x="611515" y="314325"/>
                  <a:pt x="627668" y="331460"/>
                  <a:pt x="623520" y="351215"/>
                </a:cubicBezTo>
                <a:cubicBezTo>
                  <a:pt x="612388" y="404039"/>
                  <a:pt x="585321" y="450969"/>
                  <a:pt x="547559" y="486767"/>
                </a:cubicBezTo>
                <a:cubicBezTo>
                  <a:pt x="534134" y="499537"/>
                  <a:pt x="513070" y="496808"/>
                  <a:pt x="501283" y="482511"/>
                </a:cubicBezTo>
                <a:lnTo>
                  <a:pt x="409168" y="371515"/>
                </a:lnTo>
                <a:cubicBezTo>
                  <a:pt x="390287" y="348704"/>
                  <a:pt x="406549" y="314325"/>
                  <a:pt x="436017" y="314325"/>
                </a:cubicBezTo>
                <a:lnTo>
                  <a:pt x="521365" y="31432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138176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817600" y="6413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 with KPIs and filters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992600" y="6223000"/>
            <a:ext cx="508000" cy="0"/>
          </a:xfrm>
          <a:prstGeom prst="straightConnector1">
            <a:avLst/>
          </a:prstGeom>
          <a:noFill/>
          <a:ln w="25400">
            <a:solidFill>
              <a:srgbClr val="EC4899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7627600" y="4826000"/>
            <a:ext cx="3302000" cy="3556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81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18840450" y="5080000"/>
            <a:ext cx="419100" cy="558800"/>
          </a:xfrm>
          <a:custGeom>
            <a:avLst/>
            <a:gdLst/>
            <a:ahLst/>
            <a:cxnLst/>
            <a:rect l="l" t="t" r="r" b="b"/>
            <a:pathLst>
              <a:path w="419100" h="558800">
                <a:moveTo>
                  <a:pt x="319673" y="419100"/>
                </a:moveTo>
                <a:cubicBezTo>
                  <a:pt x="327640" y="394762"/>
                  <a:pt x="343575" y="372715"/>
                  <a:pt x="361583" y="353725"/>
                </a:cubicBezTo>
                <a:cubicBezTo>
                  <a:pt x="397272" y="316180"/>
                  <a:pt x="419100" y="265430"/>
                  <a:pt x="419100" y="209550"/>
                </a:cubicBezTo>
                <a:cubicBezTo>
                  <a:pt x="419100" y="93861"/>
                  <a:pt x="325239" y="0"/>
                  <a:pt x="209550" y="0"/>
                </a:cubicBezTo>
                <a:cubicBezTo>
                  <a:pt x="93861" y="0"/>
                  <a:pt x="0" y="93861"/>
                  <a:pt x="0" y="209550"/>
                </a:cubicBezTo>
                <a:cubicBezTo>
                  <a:pt x="0" y="265430"/>
                  <a:pt x="21828" y="316180"/>
                  <a:pt x="57517" y="353725"/>
                </a:cubicBezTo>
                <a:cubicBezTo>
                  <a:pt x="75525" y="372715"/>
                  <a:pt x="91569" y="394762"/>
                  <a:pt x="99427" y="419100"/>
                </a:cubicBezTo>
                <a:lnTo>
                  <a:pt x="319564" y="419100"/>
                </a:lnTo>
                <a:close/>
                <a:moveTo>
                  <a:pt x="314325" y="471488"/>
                </a:moveTo>
                <a:lnTo>
                  <a:pt x="104775" y="471488"/>
                </a:lnTo>
                <a:lnTo>
                  <a:pt x="104775" y="488950"/>
                </a:lnTo>
                <a:cubicBezTo>
                  <a:pt x="104775" y="537190"/>
                  <a:pt x="143847" y="576262"/>
                  <a:pt x="192088" y="576262"/>
                </a:cubicBezTo>
                <a:lnTo>
                  <a:pt x="227013" y="576262"/>
                </a:lnTo>
                <a:cubicBezTo>
                  <a:pt x="275253" y="576262"/>
                  <a:pt x="314325" y="537190"/>
                  <a:pt x="314325" y="488950"/>
                </a:cubicBezTo>
                <a:lnTo>
                  <a:pt x="314325" y="471488"/>
                </a:lnTo>
                <a:close/>
                <a:moveTo>
                  <a:pt x="200819" y="122238"/>
                </a:moveTo>
                <a:cubicBezTo>
                  <a:pt x="157381" y="122238"/>
                  <a:pt x="122238" y="157381"/>
                  <a:pt x="122238" y="200819"/>
                </a:cubicBezTo>
                <a:cubicBezTo>
                  <a:pt x="122238" y="215334"/>
                  <a:pt x="110559" y="227013"/>
                  <a:pt x="96044" y="227013"/>
                </a:cubicBezTo>
                <a:cubicBezTo>
                  <a:pt x="81528" y="227013"/>
                  <a:pt x="69850" y="215334"/>
                  <a:pt x="69850" y="200819"/>
                </a:cubicBezTo>
                <a:cubicBezTo>
                  <a:pt x="69850" y="128459"/>
                  <a:pt x="128459" y="69850"/>
                  <a:pt x="200819" y="69850"/>
                </a:cubicBezTo>
                <a:cubicBezTo>
                  <a:pt x="215334" y="69850"/>
                  <a:pt x="227013" y="81528"/>
                  <a:pt x="227013" y="96044"/>
                </a:cubicBezTo>
                <a:cubicBezTo>
                  <a:pt x="227013" y="110559"/>
                  <a:pt x="215334" y="122238"/>
                  <a:pt x="200819" y="1222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78816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881600" y="6413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business recommendations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71600" y="9144000"/>
            <a:ext cx="21640800" cy="863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1778000" y="9182100"/>
            <a:ext cx="2082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Pipeline: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Raw Data → Python Cleaning → SQL Analysis → Power BI Visualization → Strategic Recommendations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8509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06000" y="1574800"/>
            <a:ext cx="12954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5080000" cy="2032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1625600" y="46990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25600" y="5651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25600" y="6159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purchases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32600" y="4572000"/>
            <a:ext cx="5080000" cy="2032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46990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5651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Columns /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6159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Mixed data types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293600" y="4572000"/>
            <a:ext cx="5080000" cy="2032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12547600" y="46990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47600" y="5651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547600" y="6159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Review Rating (imputed)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754600" y="4572000"/>
            <a:ext cx="5257800" cy="2032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810000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18008600" y="4699000"/>
            <a:ext cx="47498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008600" y="5651500"/>
            <a:ext cx="4749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008600" y="6159500"/>
            <a:ext cx="47498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cleaning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71600" y="7239000"/>
            <a:ext cx="7112000" cy="863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1625600" y="72771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Demographics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25600" y="8255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Age, Gender, Location, Subscription Status — core identifiers for segmentation and targeting strategies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864600" y="7239000"/>
            <a:ext cx="7112000" cy="863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9118600" y="72771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Details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18600" y="8255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Item Purchased, Category, Purchase Amount, Season, Size, Color — transactional data for trend analysis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6357600" y="7239000"/>
            <a:ext cx="6654800" cy="863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16611600" y="7277100"/>
            <a:ext cx="61468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Shopping Behavior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611600" y="8255000"/>
            <a:ext cx="6146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Discount, Promo Code, Previous Purchases, Frequency, Review Rating, Shipping Type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71600" y="10287000"/>
            <a:ext cx="216408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371600" y="10541000"/>
            <a:ext cx="21640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Source: customer_shopping_behavior.csv | 3,900 rows × 18 columns | 37 missing values imputed with category median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939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&amp; ENGINEERING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0" y="1574800"/>
            <a:ext cx="12065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889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699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5016500"/>
            <a:ext cx="508000" cy="0"/>
          </a:xfrm>
          <a:prstGeom prst="straightConnector1">
            <a:avLst/>
          </a:prstGeom>
          <a:noFill/>
          <a:ln w="381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2921000" y="4699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1000" y="5270500"/>
            <a:ext cx="863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Imported dataset using pandas. Checked structure with df.info() and summary statistics with .describe()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6477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6794500"/>
            <a:ext cx="508000" cy="0"/>
          </a:xfrm>
          <a:prstGeom prst="straightConnector1">
            <a:avLst/>
          </a:prstGeom>
          <a:noFill/>
          <a:ln w="381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921000" y="6477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1000" y="7048500"/>
            <a:ext cx="863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37 null values in Review Rating. Imputed using median rating per product category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8255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0" y="8572500"/>
            <a:ext cx="508000" cy="0"/>
          </a:xfrm>
          <a:prstGeom prst="straightConnector1">
            <a:avLst/>
          </a:prstGeom>
          <a:noFill/>
          <a:ln w="381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2921000" y="8255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 Standardization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21000" y="8826500"/>
            <a:ext cx="863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Renamed all columns to snake_case for consistency and better documentation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10033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86000" y="10350500"/>
            <a:ext cx="508000" cy="0"/>
          </a:xfrm>
          <a:prstGeom prst="straightConnector1">
            <a:avLst/>
          </a:prstGeom>
          <a:noFill/>
          <a:ln w="38100">
            <a:solidFill>
              <a:srgbClr val="4F46E5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2921000" y="10033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21000" y="10604500"/>
            <a:ext cx="863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age_group column by binning ages. Created purchase_frequency_days from purchase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192000" y="4699000"/>
            <a:ext cx="10820400" cy="685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0" y="4699000"/>
            <a:ext cx="10820400" cy="863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0" y="4737100"/>
            <a:ext cx="100584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Processing Steps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623800" y="5969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13208000" y="5905500"/>
            <a:ext cx="939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Consistency Check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Verified discount_applied and promo_code_used redundancy, dropped promo_code_used column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598400" y="723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13208000" y="7175500"/>
            <a:ext cx="939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Integration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Connected Python to </a:t>
            </a:r>
            <a:r>
              <a:rPr lang="en-US" sz="2200" dirty="0" err="1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loaded the cleaned DataFrame for SQL analysis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573000" y="850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13208000" y="8445500"/>
            <a:ext cx="939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Validation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Ensured no duplicates, consistent data types, and logical value ranges across all features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192000" y="9906000"/>
            <a:ext cx="10820400" cy="863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12573000" y="9944100"/>
            <a:ext cx="100584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r>
              <a:rPr lang="en-US" sz="2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Clean, analysis-ready dataset loaded into PostgreSQL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rgbClr val="0F172A"/>
            </a:gs>
            <a:gs pos="50000">
              <a:srgbClr val="1E1B4B"/>
            </a:gs>
            <a:gs pos="100000">
              <a:srgbClr val="312E8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0" y="2286000"/>
            <a:ext cx="10160000" cy="40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4500" dirty="0">
                <a:solidFill>
                  <a:srgbClr val="4F46E5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382000" y="6350000"/>
            <a:ext cx="7620000" cy="0"/>
          </a:xfrm>
          <a:prstGeom prst="straightConnector1">
            <a:avLst/>
          </a:prstGeom>
          <a:noFill/>
          <a:ln w="3810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4572000" y="6731000"/>
            <a:ext cx="1524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8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8382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SQL-driven business analysis and customer segmentation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635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0" y="635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BUSINESS QUESTIONS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92000" y="1574800"/>
            <a:ext cx="10668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4318000" cy="152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" y="5143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Gender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4572000"/>
            <a:ext cx="4318000" cy="1524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70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70600" y="5143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High-Spending Discount Users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0" y="4572000"/>
            <a:ext cx="4318000" cy="1524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642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42600" y="5143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Products by Rating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087600" y="4572000"/>
            <a:ext cx="4318000" cy="152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15214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14600" y="5143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Shipping Type Comparison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659600" y="4572000"/>
            <a:ext cx="3352800" cy="1524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Text 23"/>
          <p:cNvSpPr/>
          <p:nvPr/>
        </p:nvSpPr>
        <p:spPr>
          <a:xfrm>
            <a:off x="19786600" y="4635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786600" y="51435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Subscribers vs Non-Subscribers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6477000"/>
            <a:ext cx="4318000" cy="1524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6540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" y="7048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Discount-Dependent Products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0" y="6477000"/>
            <a:ext cx="4318000" cy="152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Text 29"/>
          <p:cNvSpPr/>
          <p:nvPr/>
        </p:nvSpPr>
        <p:spPr>
          <a:xfrm>
            <a:off x="6070600" y="6540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70600" y="7048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15600" y="6477000"/>
            <a:ext cx="4318000" cy="1524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34" name="Text 32"/>
          <p:cNvSpPr/>
          <p:nvPr/>
        </p:nvSpPr>
        <p:spPr>
          <a:xfrm>
            <a:off x="10642600" y="6540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42600" y="7048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 Products per Category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5087600" y="6477000"/>
            <a:ext cx="4318000" cy="152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15214600" y="6540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214600" y="7048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 Buyers &amp; Subscriptions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9659600" y="6477000"/>
            <a:ext cx="3352800" cy="1524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8100000" scaled="1"/>
          </a:gradFill>
          <a:ln/>
        </p:spPr>
      </p:sp>
      <p:sp>
        <p:nvSpPr>
          <p:cNvPr id="40" name="Text 38"/>
          <p:cNvSpPr/>
          <p:nvPr/>
        </p:nvSpPr>
        <p:spPr>
          <a:xfrm>
            <a:off x="19786600" y="6540500"/>
            <a:ext cx="825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9786600" y="7048500"/>
            <a:ext cx="297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Age Group</a:t>
            </a:r>
            <a:endParaRPr lang="en-US" sz="1600" dirty="0"/>
          </a:p>
        </p:txBody>
      </p:sp>
      <p:pic>
        <p:nvPicPr>
          <p:cNvPr id="42" name="Image 0" descr="https://kimi-img.moonshot.cn/pub/slides/okc/paz3tyb6ozz2w/mnt/agents/output/customer_behavior_analysis/images/4_Unleashing_the_Power_of_SQL_for_Data.png"/>
          <p:cNvPicPr>
            <a:picLocks noChangeAspect="1"/>
          </p:cNvPicPr>
          <p:nvPr/>
        </p:nvPicPr>
        <p:blipFill>
          <a:blip r:embed="rId3">
            <a:alphaModFix amt="80000"/>
          </a:blip>
          <a:srcRect t="5556" b="5556"/>
          <a:stretch/>
        </p:blipFill>
        <p:spPr>
          <a:xfrm>
            <a:off x="1371600" y="8636000"/>
            <a:ext cx="7620000" cy="38100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525000" y="8890000"/>
            <a:ext cx="13487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10 business questions were analyzed using </a:t>
            </a: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advanced SQL techniques including: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Aggregate functions (SUM, AVG, COUNT) </a:t>
            </a:r>
            <a:r>
              <a:rPr lang="en-US" sz="2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Subqueries and CTEs </a:t>
            </a:r>
            <a:r>
              <a:rPr lang="en-US" sz="240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Window functions (ROW_NUMBER) </a:t>
            </a:r>
            <a:r>
              <a:rPr lang="en-US" sz="24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CASE statements for segmentation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762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SQL 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1574800"/>
            <a:ext cx="13716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53340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6256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28575"/>
                </a:moveTo>
                <a:cubicBezTo>
                  <a:pt x="285750" y="12769"/>
                  <a:pt x="298519" y="0"/>
                  <a:pt x="314325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lnTo>
                  <a:pt x="457200" y="142875"/>
                </a:lnTo>
                <a:cubicBezTo>
                  <a:pt x="457200" y="158681"/>
                  <a:pt x="444431" y="171450"/>
                  <a:pt x="428625" y="171450"/>
                </a:cubicBezTo>
                <a:cubicBezTo>
                  <a:pt x="412819" y="171450"/>
                  <a:pt x="400050" y="158681"/>
                  <a:pt x="400050" y="142875"/>
                </a:cubicBezTo>
                <a:lnTo>
                  <a:pt x="400050" y="97601"/>
                </a:lnTo>
                <a:lnTo>
                  <a:pt x="315218" y="182434"/>
                </a:lnTo>
                <a:cubicBezTo>
                  <a:pt x="332631" y="207794"/>
                  <a:pt x="342900" y="238423"/>
                  <a:pt x="342900" y="271552"/>
                </a:cubicBezTo>
                <a:cubicBezTo>
                  <a:pt x="342900" y="358348"/>
                  <a:pt x="272534" y="428714"/>
                  <a:pt x="185738" y="428714"/>
                </a:cubicBezTo>
                <a:cubicBezTo>
                  <a:pt x="98941" y="428714"/>
                  <a:pt x="28575" y="358259"/>
                  <a:pt x="28575" y="271463"/>
                </a:cubicBezTo>
                <a:cubicBezTo>
                  <a:pt x="28575" y="184666"/>
                  <a:pt x="98941" y="114300"/>
                  <a:pt x="185738" y="114300"/>
                </a:cubicBezTo>
                <a:cubicBezTo>
                  <a:pt x="218777" y="114300"/>
                  <a:pt x="249495" y="124480"/>
                  <a:pt x="274856" y="141982"/>
                </a:cubicBezTo>
                <a:lnTo>
                  <a:pt x="359688" y="57150"/>
                </a:lnTo>
                <a:lnTo>
                  <a:pt x="314414" y="57150"/>
                </a:lnTo>
                <a:cubicBezTo>
                  <a:pt x="298609" y="57150"/>
                  <a:pt x="285839" y="44381"/>
                  <a:pt x="285839" y="28575"/>
                </a:cubicBezTo>
                <a:close/>
                <a:moveTo>
                  <a:pt x="185738" y="371475"/>
                </a:moveTo>
                <a:cubicBezTo>
                  <a:pt x="240936" y="371475"/>
                  <a:pt x="285750" y="326661"/>
                  <a:pt x="285750" y="271463"/>
                </a:cubicBezTo>
                <a:cubicBezTo>
                  <a:pt x="285750" y="216264"/>
                  <a:pt x="240936" y="171450"/>
                  <a:pt x="185738" y="171450"/>
                </a:cubicBezTo>
                <a:cubicBezTo>
                  <a:pt x="130539" y="171450"/>
                  <a:pt x="85725" y="216264"/>
                  <a:pt x="85725" y="271463"/>
                </a:cubicBezTo>
                <a:cubicBezTo>
                  <a:pt x="85725" y="326661"/>
                  <a:pt x="130539" y="371475"/>
                  <a:pt x="185737" y="371475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2260600" y="476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Revenue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60600" y="52070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 &gt; Female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59600" y="4572000"/>
            <a:ext cx="5334000" cy="1651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6450" y="4889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848600" y="476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Age Group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48600" y="52070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Young Adults 18-35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47600" y="4572000"/>
            <a:ext cx="5334000" cy="1651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73025" y="488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9499" y="77867"/>
                </a:moveTo>
                <a:cubicBezTo>
                  <a:pt x="287715" y="71348"/>
                  <a:pt x="292894" y="61258"/>
                  <a:pt x="292894" y="50006"/>
                </a:cubicBezTo>
                <a:cubicBezTo>
                  <a:pt x="292894" y="30272"/>
                  <a:pt x="276910" y="14288"/>
                  <a:pt x="257175" y="14288"/>
                </a:cubicBezTo>
                <a:cubicBezTo>
                  <a:pt x="237440" y="14288"/>
                  <a:pt x="221456" y="30272"/>
                  <a:pt x="221456" y="50006"/>
                </a:cubicBezTo>
                <a:cubicBezTo>
                  <a:pt x="221456" y="61258"/>
                  <a:pt x="226725" y="71348"/>
                  <a:pt x="234851" y="77867"/>
                </a:cubicBezTo>
                <a:lnTo>
                  <a:pt x="173772" y="173950"/>
                </a:lnTo>
                <a:cubicBezTo>
                  <a:pt x="164842" y="187970"/>
                  <a:pt x="145822" y="191453"/>
                  <a:pt x="132517" y="181451"/>
                </a:cubicBezTo>
                <a:lnTo>
                  <a:pt x="79385" y="141714"/>
                </a:lnTo>
                <a:cubicBezTo>
                  <a:pt x="83403" y="135999"/>
                  <a:pt x="85725" y="128945"/>
                  <a:pt x="85725" y="121444"/>
                </a:cubicBezTo>
                <a:cubicBezTo>
                  <a:pt x="85725" y="101709"/>
                  <a:pt x="69741" y="85725"/>
                  <a:pt x="50006" y="85725"/>
                </a:cubicBezTo>
                <a:cubicBezTo>
                  <a:pt x="30272" y="85725"/>
                  <a:pt x="14288" y="101709"/>
                  <a:pt x="14288" y="121444"/>
                </a:cubicBezTo>
                <a:cubicBezTo>
                  <a:pt x="14288" y="140910"/>
                  <a:pt x="29914" y="156805"/>
                  <a:pt x="49292" y="157163"/>
                </a:cubicBezTo>
                <a:lnTo>
                  <a:pt x="78403" y="351383"/>
                </a:lnTo>
                <a:cubicBezTo>
                  <a:pt x="82600" y="379333"/>
                  <a:pt x="106620" y="400050"/>
                  <a:pt x="134928" y="400050"/>
                </a:cubicBezTo>
                <a:lnTo>
                  <a:pt x="379422" y="400050"/>
                </a:lnTo>
                <a:cubicBezTo>
                  <a:pt x="407730" y="400050"/>
                  <a:pt x="431750" y="379333"/>
                  <a:pt x="435947" y="351383"/>
                </a:cubicBezTo>
                <a:lnTo>
                  <a:pt x="465058" y="157163"/>
                </a:lnTo>
                <a:cubicBezTo>
                  <a:pt x="484436" y="156805"/>
                  <a:pt x="500063" y="140910"/>
                  <a:pt x="500063" y="121444"/>
                </a:cubicBezTo>
                <a:cubicBezTo>
                  <a:pt x="500063" y="101709"/>
                  <a:pt x="484078" y="85725"/>
                  <a:pt x="464344" y="85725"/>
                </a:cubicBezTo>
                <a:cubicBezTo>
                  <a:pt x="444609" y="85725"/>
                  <a:pt x="428625" y="101709"/>
                  <a:pt x="428625" y="121444"/>
                </a:cubicBezTo>
                <a:cubicBezTo>
                  <a:pt x="428625" y="128945"/>
                  <a:pt x="430947" y="135999"/>
                  <a:pt x="434965" y="141714"/>
                </a:cubicBezTo>
                <a:lnTo>
                  <a:pt x="381923" y="181541"/>
                </a:lnTo>
                <a:cubicBezTo>
                  <a:pt x="368618" y="191542"/>
                  <a:pt x="349597" y="188059"/>
                  <a:pt x="340668" y="174040"/>
                </a:cubicBezTo>
                <a:lnTo>
                  <a:pt x="279499" y="77867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3436600" y="476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Dominant Segment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36600" y="52070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135600" y="4572000"/>
            <a:ext cx="4876800" cy="1651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8332450" y="4889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371475" y="28575"/>
                </a:lnTo>
                <a:cubicBezTo>
                  <a:pt x="402997" y="28575"/>
                  <a:pt x="428625" y="54203"/>
                  <a:pt x="428625" y="85725"/>
                </a:cubicBezTo>
                <a:lnTo>
                  <a:pt x="428625" y="114300"/>
                </a:lnTo>
                <a:lnTo>
                  <a:pt x="473899" y="114300"/>
                </a:lnTo>
                <a:cubicBezTo>
                  <a:pt x="489079" y="114300"/>
                  <a:pt x="503634" y="120283"/>
                  <a:pt x="514350" y="130999"/>
                </a:cubicBezTo>
                <a:lnTo>
                  <a:pt x="554801" y="171450"/>
                </a:lnTo>
                <a:cubicBezTo>
                  <a:pt x="565517" y="182166"/>
                  <a:pt x="571500" y="196721"/>
                  <a:pt x="571500" y="211901"/>
                </a:cubicBezTo>
                <a:lnTo>
                  <a:pt x="571500" y="342900"/>
                </a:lnTo>
                <a:cubicBezTo>
                  <a:pt x="571500" y="374422"/>
                  <a:pt x="545872" y="400050"/>
                  <a:pt x="514350" y="400050"/>
                </a:cubicBezTo>
                <a:lnTo>
                  <a:pt x="511403" y="400050"/>
                </a:lnTo>
                <a:cubicBezTo>
                  <a:pt x="502116" y="433001"/>
                  <a:pt x="471755" y="457200"/>
                  <a:pt x="435769" y="457200"/>
                </a:cubicBezTo>
                <a:cubicBezTo>
                  <a:pt x="399782" y="457200"/>
                  <a:pt x="369510" y="433001"/>
                  <a:pt x="360134" y="400050"/>
                </a:cubicBezTo>
                <a:lnTo>
                  <a:pt x="268516" y="400050"/>
                </a:lnTo>
                <a:cubicBezTo>
                  <a:pt x="259229" y="433001"/>
                  <a:pt x="228868" y="457200"/>
                  <a:pt x="192881" y="457200"/>
                </a:cubicBezTo>
                <a:cubicBezTo>
                  <a:pt x="156895" y="457200"/>
                  <a:pt x="126623" y="433001"/>
                  <a:pt x="117247" y="400050"/>
                </a:cubicBezTo>
                <a:lnTo>
                  <a:pt x="114300" y="400050"/>
                </a:lnTo>
                <a:cubicBezTo>
                  <a:pt x="82778" y="400050"/>
                  <a:pt x="57150" y="374422"/>
                  <a:pt x="57150" y="342900"/>
                </a:cubicBez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290483"/>
                  <a:pt x="0" y="278606"/>
                </a:cubicBezTo>
                <a:cubicBezTo>
                  <a:pt x="0" y="266730"/>
                  <a:pt x="9555" y="257175"/>
                  <a:pt x="21431" y="257175"/>
                </a:cubicBezTo>
                <a:lnTo>
                  <a:pt x="121444" y="257175"/>
                </a:lnTo>
                <a:cubicBezTo>
                  <a:pt x="133320" y="257175"/>
                  <a:pt x="142875" y="247620"/>
                  <a:pt x="142875" y="235744"/>
                </a:cubicBezTo>
                <a:cubicBezTo>
                  <a:pt x="142875" y="223867"/>
                  <a:pt x="133320" y="214313"/>
                  <a:pt x="121444" y="214313"/>
                </a:cubicBezTo>
                <a:lnTo>
                  <a:pt x="21431" y="214313"/>
                </a:lnTo>
                <a:cubicBezTo>
                  <a:pt x="9555" y="214313"/>
                  <a:pt x="0" y="204758"/>
                  <a:pt x="0" y="192881"/>
                </a:cubicBezTo>
                <a:cubicBezTo>
                  <a:pt x="0" y="181005"/>
                  <a:pt x="9555" y="171450"/>
                  <a:pt x="21431" y="171450"/>
                </a:cubicBezTo>
                <a:lnTo>
                  <a:pt x="178594" y="171450"/>
                </a:lnTo>
                <a:cubicBezTo>
                  <a:pt x="190470" y="171450"/>
                  <a:pt x="200025" y="161895"/>
                  <a:pt x="200025" y="150019"/>
                </a:cubicBezTo>
                <a:cubicBezTo>
                  <a:pt x="200025" y="138142"/>
                  <a:pt x="190470" y="128588"/>
                  <a:pt x="178594" y="128588"/>
                </a:cubicBezTo>
                <a:lnTo>
                  <a:pt x="21431" y="128588"/>
                </a:lnTo>
                <a:cubicBezTo>
                  <a:pt x="9555" y="128588"/>
                  <a:pt x="0" y="119033"/>
                  <a:pt x="0" y="107156"/>
                </a:cubicBezTo>
                <a:cubicBezTo>
                  <a:pt x="0" y="95280"/>
                  <a:pt x="9555" y="85725"/>
                  <a:pt x="21431" y="85725"/>
                </a:cubicBezTo>
                <a:lnTo>
                  <a:pt x="57150" y="85725"/>
                </a:lnTo>
                <a:close/>
                <a:moveTo>
                  <a:pt x="514350" y="257175"/>
                </a:moveTo>
                <a:lnTo>
                  <a:pt x="514350" y="211901"/>
                </a:lnTo>
                <a:lnTo>
                  <a:pt x="473899" y="171450"/>
                </a:lnTo>
                <a:lnTo>
                  <a:pt x="428625" y="171450"/>
                </a:lnTo>
                <a:lnTo>
                  <a:pt x="428625" y="257175"/>
                </a:lnTo>
                <a:lnTo>
                  <a:pt x="514350" y="257175"/>
                </a:lnTo>
                <a:close/>
                <a:moveTo>
                  <a:pt x="228600" y="378619"/>
                </a:moveTo>
                <a:cubicBezTo>
                  <a:pt x="228600" y="358905"/>
                  <a:pt x="212595" y="342900"/>
                  <a:pt x="192881" y="342900"/>
                </a:cubicBezTo>
                <a:cubicBezTo>
                  <a:pt x="173168" y="342900"/>
                  <a:pt x="157163" y="358905"/>
                  <a:pt x="157163" y="378619"/>
                </a:cubicBezTo>
                <a:cubicBezTo>
                  <a:pt x="157163" y="398332"/>
                  <a:pt x="173168" y="414338"/>
                  <a:pt x="192881" y="414338"/>
                </a:cubicBezTo>
                <a:cubicBezTo>
                  <a:pt x="212595" y="414338"/>
                  <a:pt x="228600" y="398332"/>
                  <a:pt x="228600" y="378619"/>
                </a:cubicBezTo>
                <a:close/>
                <a:moveTo>
                  <a:pt x="435769" y="414338"/>
                </a:moveTo>
                <a:cubicBezTo>
                  <a:pt x="455482" y="414338"/>
                  <a:pt x="471488" y="398332"/>
                  <a:pt x="471488" y="378619"/>
                </a:cubicBezTo>
                <a:cubicBezTo>
                  <a:pt x="471488" y="358905"/>
                  <a:pt x="455482" y="342900"/>
                  <a:pt x="435769" y="342900"/>
                </a:cubicBezTo>
                <a:cubicBezTo>
                  <a:pt x="416055" y="342900"/>
                  <a:pt x="400050" y="358905"/>
                  <a:pt x="400050" y="378619"/>
                </a:cubicBezTo>
                <a:cubicBezTo>
                  <a:pt x="400050" y="398332"/>
                  <a:pt x="416055" y="414338"/>
                  <a:pt x="435769" y="414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024600" y="4762500"/>
            <a:ext cx="3733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Shipping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024600" y="5207000"/>
            <a:ext cx="3733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Avg Spend</a:t>
            </a:r>
            <a:endParaRPr lang="en-US" sz="16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371600" y="6731000"/>
          <a:ext cx="10795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12674600" y="6731000"/>
            <a:ext cx="10337800" cy="533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2674600" y="6731000"/>
            <a:ext cx="10337800" cy="762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8"/>
          <p:cNvSpPr/>
          <p:nvPr/>
        </p:nvSpPr>
        <p:spPr>
          <a:xfrm>
            <a:off x="12954000" y="6769100"/>
            <a:ext cx="977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Summary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2954000" y="7747000"/>
            <a:ext cx="977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Male customers generated </a:t>
            </a: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total revenue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female customers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954000" y="8509000"/>
            <a:ext cx="977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Young adults (18-35) contributed the </a:t>
            </a: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revenue share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954000" y="9271000"/>
            <a:ext cx="977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Some products show </a:t>
            </a: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60%+ discount dependency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margin risk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954000" y="10033000"/>
            <a:ext cx="977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Subscribers vs non-subscribers show </a:t>
            </a: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spending patterns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2954000" y="10795000"/>
            <a:ext cx="977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Express shipping correlates with </a:t>
            </a: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purchase amounts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11176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573000" y="1574800"/>
            <a:ext cx="10287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1371600" y="4572000"/>
          <a:ext cx="7112000" cy="711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9144000" y="4572000"/>
            <a:ext cx="7366000" cy="2159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0" y="4572000"/>
            <a:ext cx="101600" cy="2159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2"/>
          <p:cNvSpPr/>
          <p:nvPr/>
        </p:nvSpPr>
        <p:spPr>
          <a:xfrm>
            <a:off x="9528175" y="482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10134600" y="4762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Customers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99600" y="53340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previous purchase</a:t>
            </a:r>
            <a:r>
              <a:rPr lang="en-US" sz="2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Entry-level segment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99600" y="58166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Requires onboarding focus and welcome campaigns to build loyalty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0" y="7048500"/>
            <a:ext cx="7366000" cy="2159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0" y="7048500"/>
            <a:ext cx="101600" cy="2159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8"/>
          <p:cNvSpPr/>
          <p:nvPr/>
        </p:nvSpPr>
        <p:spPr>
          <a:xfrm>
            <a:off x="9471025" y="7302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10134600" y="7239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Returning Customers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499600" y="78105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2-10 previous purchases</a:t>
            </a: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Growth segment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99600" y="82931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upsell potential — target with personalized recommendations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144000" y="9525000"/>
            <a:ext cx="7366000" cy="2159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6" name="Shape 23"/>
          <p:cNvSpPr/>
          <p:nvPr/>
        </p:nvSpPr>
        <p:spPr>
          <a:xfrm>
            <a:off x="9144000" y="9525000"/>
            <a:ext cx="101600" cy="2159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4"/>
          <p:cNvSpPr/>
          <p:nvPr/>
        </p:nvSpPr>
        <p:spPr>
          <a:xfrm>
            <a:off x="9471025" y="977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9499" y="77867"/>
                </a:moveTo>
                <a:cubicBezTo>
                  <a:pt x="287715" y="71348"/>
                  <a:pt x="292894" y="61258"/>
                  <a:pt x="292894" y="50006"/>
                </a:cubicBezTo>
                <a:cubicBezTo>
                  <a:pt x="292894" y="30272"/>
                  <a:pt x="276910" y="14288"/>
                  <a:pt x="257175" y="14288"/>
                </a:cubicBezTo>
                <a:cubicBezTo>
                  <a:pt x="237440" y="14288"/>
                  <a:pt x="221456" y="30272"/>
                  <a:pt x="221456" y="50006"/>
                </a:cubicBezTo>
                <a:cubicBezTo>
                  <a:pt x="221456" y="61258"/>
                  <a:pt x="226725" y="71348"/>
                  <a:pt x="234851" y="77867"/>
                </a:cubicBezTo>
                <a:lnTo>
                  <a:pt x="173772" y="173950"/>
                </a:lnTo>
                <a:cubicBezTo>
                  <a:pt x="164842" y="187970"/>
                  <a:pt x="145822" y="191453"/>
                  <a:pt x="132517" y="181451"/>
                </a:cubicBezTo>
                <a:lnTo>
                  <a:pt x="79385" y="141714"/>
                </a:lnTo>
                <a:cubicBezTo>
                  <a:pt x="83403" y="135999"/>
                  <a:pt x="85725" y="128945"/>
                  <a:pt x="85725" y="121444"/>
                </a:cubicBezTo>
                <a:cubicBezTo>
                  <a:pt x="85725" y="101709"/>
                  <a:pt x="69741" y="85725"/>
                  <a:pt x="50006" y="85725"/>
                </a:cubicBezTo>
                <a:cubicBezTo>
                  <a:pt x="30272" y="85725"/>
                  <a:pt x="14288" y="101709"/>
                  <a:pt x="14288" y="121444"/>
                </a:cubicBezTo>
                <a:cubicBezTo>
                  <a:pt x="14288" y="140910"/>
                  <a:pt x="29914" y="156805"/>
                  <a:pt x="49292" y="157163"/>
                </a:cubicBezTo>
                <a:lnTo>
                  <a:pt x="78403" y="351383"/>
                </a:lnTo>
                <a:cubicBezTo>
                  <a:pt x="82600" y="379333"/>
                  <a:pt x="106620" y="400050"/>
                  <a:pt x="134928" y="400050"/>
                </a:cubicBezTo>
                <a:lnTo>
                  <a:pt x="379422" y="400050"/>
                </a:lnTo>
                <a:cubicBezTo>
                  <a:pt x="407730" y="400050"/>
                  <a:pt x="431750" y="379333"/>
                  <a:pt x="435947" y="351383"/>
                </a:cubicBezTo>
                <a:lnTo>
                  <a:pt x="465058" y="157163"/>
                </a:lnTo>
                <a:cubicBezTo>
                  <a:pt x="484436" y="156805"/>
                  <a:pt x="500063" y="140910"/>
                  <a:pt x="500063" y="121444"/>
                </a:cubicBezTo>
                <a:cubicBezTo>
                  <a:pt x="500063" y="101709"/>
                  <a:pt x="484078" y="85725"/>
                  <a:pt x="464344" y="85725"/>
                </a:cubicBezTo>
                <a:cubicBezTo>
                  <a:pt x="444609" y="85725"/>
                  <a:pt x="428625" y="101709"/>
                  <a:pt x="428625" y="121444"/>
                </a:cubicBezTo>
                <a:cubicBezTo>
                  <a:pt x="428625" y="128945"/>
                  <a:pt x="430947" y="135999"/>
                  <a:pt x="434965" y="141714"/>
                </a:cubicBezTo>
                <a:lnTo>
                  <a:pt x="381923" y="181541"/>
                </a:lnTo>
                <a:cubicBezTo>
                  <a:pt x="368618" y="191542"/>
                  <a:pt x="349597" y="188059"/>
                  <a:pt x="340668" y="174040"/>
                </a:cubicBezTo>
                <a:lnTo>
                  <a:pt x="279499" y="77867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8" name="Text 25"/>
          <p:cNvSpPr/>
          <p:nvPr/>
        </p:nvSpPr>
        <p:spPr>
          <a:xfrm>
            <a:off x="10134600" y="9715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499600" y="102870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 previous purchases</a:t>
            </a:r>
            <a:r>
              <a:rPr lang="en-US" sz="200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Highest value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99600" y="107696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VIP treatment and exclusive rewards to maintain engagement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7018000" y="4572000"/>
            <a:ext cx="5994400" cy="7112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10800000" scaled="1"/>
          </a:gradFill>
          <a:ln/>
        </p:spPr>
      </p:sp>
      <p:sp>
        <p:nvSpPr>
          <p:cNvPr id="32" name="Text 29"/>
          <p:cNvSpPr/>
          <p:nvPr/>
        </p:nvSpPr>
        <p:spPr>
          <a:xfrm>
            <a:off x="17272000" y="4953000"/>
            <a:ext cx="5486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 Method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7272000" y="5715000"/>
            <a:ext cx="2540000" cy="0"/>
          </a:xfrm>
          <a:prstGeom prst="straightConnector1">
            <a:avLst/>
          </a:prstGeom>
          <a:noFill/>
          <a:ln w="25400">
            <a:solidFill>
              <a:srgbClr val="C7D2FE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17272000" y="5969000"/>
            <a:ext cx="54864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segmented using SQL </a:t>
            </a:r>
            <a:r>
              <a:rPr lang="en-US" sz="2200" b="1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statements on </a:t>
            </a:r>
            <a:r>
              <a:rPr lang="en-US" sz="2200" b="1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previous_purchases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New = 1 purchase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Returning = 2-10 purchases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Loyal = 10+ purchases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Recommendation:</a:t>
            </a: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Tailor marketing strategies per segment for maximum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rgbClr val="0F172A"/>
            </a:gs>
            <a:gs pos="50000">
              <a:srgbClr val="1E1B4B"/>
            </a:gs>
            <a:gs pos="100000">
              <a:srgbClr val="312E8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0" y="2286000"/>
            <a:ext cx="10160000" cy="40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4500" dirty="0">
                <a:solidFill>
                  <a:srgbClr val="4F46E5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382000" y="6350000"/>
            <a:ext cx="7620000" cy="0"/>
          </a:xfrm>
          <a:prstGeom prst="straightConnector1">
            <a:avLst/>
          </a:prstGeom>
          <a:noFill/>
          <a:ln w="3810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302000" y="6731000"/>
            <a:ext cx="177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8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&amp;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8382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 showcase and actionable business 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635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0" y="635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kern="0" spc="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952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22000" y="1574800"/>
            <a:ext cx="11938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5334000" cy="1270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1800" y="4889500"/>
            <a:ext cx="254000" cy="406400"/>
          </a:xfrm>
          <a:custGeom>
            <a:avLst/>
            <a:gdLst/>
            <a:ahLst/>
            <a:cxnLst/>
            <a:rect l="l" t="t" r="r" b="b"/>
            <a:pathLst>
              <a:path w="254000" h="406400">
                <a:moveTo>
                  <a:pt x="107950" y="19050"/>
                </a:moveTo>
                <a:cubicBezTo>
                  <a:pt x="107950" y="8493"/>
                  <a:pt x="116443" y="0"/>
                  <a:pt x="127000" y="0"/>
                </a:cubicBezTo>
                <a:cubicBezTo>
                  <a:pt x="137557" y="0"/>
                  <a:pt x="146050" y="8493"/>
                  <a:pt x="146050" y="19050"/>
                </a:cubicBezTo>
                <a:lnTo>
                  <a:pt x="146050" y="50800"/>
                </a:lnTo>
                <a:lnTo>
                  <a:pt x="190500" y="50800"/>
                </a:lnTo>
                <a:cubicBezTo>
                  <a:pt x="204549" y="50800"/>
                  <a:pt x="215900" y="62151"/>
                  <a:pt x="215900" y="76200"/>
                </a:cubicBezTo>
                <a:cubicBezTo>
                  <a:pt x="215900" y="90249"/>
                  <a:pt x="204549" y="101600"/>
                  <a:pt x="190500" y="101600"/>
                </a:cubicBezTo>
                <a:lnTo>
                  <a:pt x="99298" y="101600"/>
                </a:lnTo>
                <a:cubicBezTo>
                  <a:pt x="79534" y="101600"/>
                  <a:pt x="63500" y="117634"/>
                  <a:pt x="63500" y="137398"/>
                </a:cubicBezTo>
                <a:cubicBezTo>
                  <a:pt x="63500" y="155258"/>
                  <a:pt x="76597" y="170339"/>
                  <a:pt x="94218" y="172879"/>
                </a:cubicBezTo>
                <a:lnTo>
                  <a:pt x="166926" y="183277"/>
                </a:lnTo>
                <a:cubicBezTo>
                  <a:pt x="209629" y="189389"/>
                  <a:pt x="241300" y="225901"/>
                  <a:pt x="241300" y="269002"/>
                </a:cubicBezTo>
                <a:cubicBezTo>
                  <a:pt x="241300" y="316865"/>
                  <a:pt x="202486" y="355600"/>
                  <a:pt x="154702" y="355600"/>
                </a:cubicBezTo>
                <a:lnTo>
                  <a:pt x="146050" y="355600"/>
                </a:lnTo>
                <a:lnTo>
                  <a:pt x="146050" y="387350"/>
                </a:lnTo>
                <a:cubicBezTo>
                  <a:pt x="146050" y="397907"/>
                  <a:pt x="137557" y="406400"/>
                  <a:pt x="127000" y="406400"/>
                </a:cubicBezTo>
                <a:cubicBezTo>
                  <a:pt x="116443" y="406400"/>
                  <a:pt x="107950" y="397907"/>
                  <a:pt x="107950" y="387350"/>
                </a:cubicBezTo>
                <a:lnTo>
                  <a:pt x="107950" y="355600"/>
                </a:lnTo>
                <a:lnTo>
                  <a:pt x="50800" y="355600"/>
                </a:lnTo>
                <a:cubicBezTo>
                  <a:pt x="36751" y="355600"/>
                  <a:pt x="25400" y="344249"/>
                  <a:pt x="25400" y="330200"/>
                </a:cubicBezTo>
                <a:cubicBezTo>
                  <a:pt x="25400" y="316151"/>
                  <a:pt x="36751" y="304800"/>
                  <a:pt x="50800" y="304800"/>
                </a:cubicBezTo>
                <a:lnTo>
                  <a:pt x="154702" y="304800"/>
                </a:lnTo>
                <a:cubicBezTo>
                  <a:pt x="174466" y="304800"/>
                  <a:pt x="190500" y="288766"/>
                  <a:pt x="190500" y="269002"/>
                </a:cubicBezTo>
                <a:cubicBezTo>
                  <a:pt x="190500" y="251142"/>
                  <a:pt x="177403" y="236061"/>
                  <a:pt x="159782" y="233521"/>
                </a:cubicBezTo>
                <a:lnTo>
                  <a:pt x="87074" y="223123"/>
                </a:lnTo>
                <a:cubicBezTo>
                  <a:pt x="44371" y="217091"/>
                  <a:pt x="12700" y="180499"/>
                  <a:pt x="12700" y="137398"/>
                </a:cubicBezTo>
                <a:cubicBezTo>
                  <a:pt x="12700" y="89614"/>
                  <a:pt x="51514" y="50800"/>
                  <a:pt x="99298" y="50800"/>
                </a:cubicBezTo>
                <a:lnTo>
                  <a:pt x="107950" y="50800"/>
                </a:lnTo>
                <a:lnTo>
                  <a:pt x="107950" y="190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84400" y="476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84400" y="51435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$234,750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59600" y="4572000"/>
            <a:ext cx="5334000" cy="1270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4400" y="4889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1113" y="1746"/>
                </a:moveTo>
                <a:cubicBezTo>
                  <a:pt x="17859" y="-1349"/>
                  <a:pt x="25797" y="-238"/>
                  <a:pt x="31433" y="4604"/>
                </a:cubicBezTo>
                <a:lnTo>
                  <a:pt x="63500" y="32068"/>
                </a:lnTo>
                <a:lnTo>
                  <a:pt x="95568" y="4604"/>
                </a:lnTo>
                <a:cubicBezTo>
                  <a:pt x="102711" y="-1508"/>
                  <a:pt x="113268" y="-1508"/>
                  <a:pt x="120333" y="4604"/>
                </a:cubicBezTo>
                <a:lnTo>
                  <a:pt x="152400" y="32068"/>
                </a:lnTo>
                <a:lnTo>
                  <a:pt x="184468" y="4604"/>
                </a:lnTo>
                <a:cubicBezTo>
                  <a:pt x="191611" y="-1508"/>
                  <a:pt x="202089" y="-1508"/>
                  <a:pt x="209233" y="4604"/>
                </a:cubicBezTo>
                <a:lnTo>
                  <a:pt x="241300" y="32068"/>
                </a:lnTo>
                <a:lnTo>
                  <a:pt x="273368" y="4604"/>
                </a:lnTo>
                <a:cubicBezTo>
                  <a:pt x="279003" y="-238"/>
                  <a:pt x="286941" y="-1349"/>
                  <a:pt x="293688" y="1746"/>
                </a:cubicBezTo>
                <a:cubicBezTo>
                  <a:pt x="300434" y="4842"/>
                  <a:pt x="304800" y="11589"/>
                  <a:pt x="304800" y="19050"/>
                </a:cubicBezTo>
                <a:lnTo>
                  <a:pt x="304800" y="387350"/>
                </a:lnTo>
                <a:cubicBezTo>
                  <a:pt x="304800" y="394811"/>
                  <a:pt x="300434" y="401558"/>
                  <a:pt x="293688" y="404654"/>
                </a:cubicBezTo>
                <a:cubicBezTo>
                  <a:pt x="286941" y="407749"/>
                  <a:pt x="279003" y="406638"/>
                  <a:pt x="273368" y="401796"/>
                </a:cubicBezTo>
                <a:lnTo>
                  <a:pt x="241300" y="374333"/>
                </a:lnTo>
                <a:lnTo>
                  <a:pt x="209233" y="401796"/>
                </a:lnTo>
                <a:cubicBezTo>
                  <a:pt x="202089" y="407908"/>
                  <a:pt x="191611" y="407908"/>
                  <a:pt x="184468" y="401796"/>
                </a:cubicBezTo>
                <a:lnTo>
                  <a:pt x="152400" y="374333"/>
                </a:lnTo>
                <a:lnTo>
                  <a:pt x="120333" y="401796"/>
                </a:lnTo>
                <a:cubicBezTo>
                  <a:pt x="113189" y="407908"/>
                  <a:pt x="102632" y="407908"/>
                  <a:pt x="95568" y="401796"/>
                </a:cubicBezTo>
                <a:lnTo>
                  <a:pt x="63500" y="374333"/>
                </a:lnTo>
                <a:lnTo>
                  <a:pt x="31433" y="401796"/>
                </a:lnTo>
                <a:cubicBezTo>
                  <a:pt x="25797" y="406638"/>
                  <a:pt x="17859" y="407749"/>
                  <a:pt x="11113" y="404654"/>
                </a:cubicBezTo>
                <a:cubicBezTo>
                  <a:pt x="4366" y="401558"/>
                  <a:pt x="0" y="394811"/>
                  <a:pt x="0" y="387350"/>
                </a:cubicBezTo>
                <a:lnTo>
                  <a:pt x="0" y="19050"/>
                </a:lnTo>
                <a:cubicBezTo>
                  <a:pt x="0" y="11589"/>
                  <a:pt x="4366" y="4842"/>
                  <a:pt x="11113" y="1746"/>
                </a:cubicBezTo>
                <a:close/>
                <a:moveTo>
                  <a:pt x="82550" y="107950"/>
                </a:moveTo>
                <a:cubicBezTo>
                  <a:pt x="71993" y="107950"/>
                  <a:pt x="63500" y="116443"/>
                  <a:pt x="63500" y="127000"/>
                </a:cubicBezTo>
                <a:cubicBezTo>
                  <a:pt x="63500" y="137557"/>
                  <a:pt x="71993" y="146050"/>
                  <a:pt x="82550" y="146050"/>
                </a:cubicBezTo>
                <a:lnTo>
                  <a:pt x="222250" y="146050"/>
                </a:lnTo>
                <a:cubicBezTo>
                  <a:pt x="232807" y="146050"/>
                  <a:pt x="241300" y="137557"/>
                  <a:pt x="241300" y="127000"/>
                </a:cubicBezTo>
                <a:cubicBezTo>
                  <a:pt x="241300" y="116443"/>
                  <a:pt x="232807" y="107950"/>
                  <a:pt x="222250" y="107950"/>
                </a:cubicBezTo>
                <a:lnTo>
                  <a:pt x="82550" y="107950"/>
                </a:lnTo>
                <a:close/>
                <a:moveTo>
                  <a:pt x="63500" y="279400"/>
                </a:moveTo>
                <a:cubicBezTo>
                  <a:pt x="63500" y="289957"/>
                  <a:pt x="71993" y="298450"/>
                  <a:pt x="82550" y="298450"/>
                </a:cubicBezTo>
                <a:lnTo>
                  <a:pt x="222250" y="298450"/>
                </a:lnTo>
                <a:cubicBezTo>
                  <a:pt x="232807" y="298450"/>
                  <a:pt x="241300" y="289957"/>
                  <a:pt x="241300" y="279400"/>
                </a:cubicBezTo>
                <a:cubicBezTo>
                  <a:pt x="241300" y="268843"/>
                  <a:pt x="232807" y="260350"/>
                  <a:pt x="222250" y="260350"/>
                </a:cubicBezTo>
                <a:lnTo>
                  <a:pt x="82550" y="260350"/>
                </a:lnTo>
                <a:cubicBezTo>
                  <a:pt x="71993" y="260350"/>
                  <a:pt x="63500" y="268843"/>
                  <a:pt x="63500" y="279400"/>
                </a:cubicBezTo>
                <a:close/>
                <a:moveTo>
                  <a:pt x="82550" y="184150"/>
                </a:moveTo>
                <a:cubicBezTo>
                  <a:pt x="71993" y="184150"/>
                  <a:pt x="63500" y="192643"/>
                  <a:pt x="63500" y="203200"/>
                </a:cubicBezTo>
                <a:cubicBezTo>
                  <a:pt x="63500" y="213757"/>
                  <a:pt x="71993" y="222250"/>
                  <a:pt x="82550" y="222250"/>
                </a:cubicBezTo>
                <a:lnTo>
                  <a:pt x="222250" y="222250"/>
                </a:lnTo>
                <a:cubicBezTo>
                  <a:pt x="232807" y="222250"/>
                  <a:pt x="241300" y="213757"/>
                  <a:pt x="241300" y="203200"/>
                </a:cubicBezTo>
                <a:cubicBezTo>
                  <a:pt x="241300" y="192643"/>
                  <a:pt x="232807" y="184150"/>
                  <a:pt x="222250" y="184150"/>
                </a:cubicBezTo>
                <a:lnTo>
                  <a:pt x="82550" y="184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76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Purchase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51435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$60.19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47600" y="4572000"/>
            <a:ext cx="5334000" cy="1270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50800" y="4889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360400" y="476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7D2F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360400" y="51435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3,900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135600" y="4572000"/>
            <a:ext cx="4876800" cy="1270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Shape 23"/>
          <p:cNvSpPr/>
          <p:nvPr/>
        </p:nvSpPr>
        <p:spPr>
          <a:xfrm>
            <a:off x="18415000" y="4889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0"/>
                </a:moveTo>
                <a:cubicBezTo>
                  <a:pt x="163751" y="0"/>
                  <a:pt x="152400" y="11351"/>
                  <a:pt x="152400" y="25400"/>
                </a:cubicBezTo>
                <a:lnTo>
                  <a:pt x="152400" y="27940"/>
                </a:lnTo>
                <a:cubicBezTo>
                  <a:pt x="94456" y="39688"/>
                  <a:pt x="50800" y="90964"/>
                  <a:pt x="50800" y="152400"/>
                </a:cubicBezTo>
                <a:lnTo>
                  <a:pt x="50800" y="169624"/>
                </a:lnTo>
                <a:cubicBezTo>
                  <a:pt x="50800" y="207804"/>
                  <a:pt x="37783" y="244872"/>
                  <a:pt x="13970" y="274717"/>
                </a:cubicBezTo>
                <a:lnTo>
                  <a:pt x="6191" y="284401"/>
                </a:lnTo>
                <a:cubicBezTo>
                  <a:pt x="2143" y="289401"/>
                  <a:pt x="0" y="295592"/>
                  <a:pt x="0" y="302022"/>
                </a:cubicBezTo>
                <a:cubicBezTo>
                  <a:pt x="0" y="317579"/>
                  <a:pt x="12621" y="330200"/>
                  <a:pt x="28178" y="330200"/>
                </a:cubicBezTo>
                <a:lnTo>
                  <a:pt x="327343" y="330200"/>
                </a:lnTo>
                <a:cubicBezTo>
                  <a:pt x="342900" y="330200"/>
                  <a:pt x="355521" y="317579"/>
                  <a:pt x="355521" y="302022"/>
                </a:cubicBezTo>
                <a:cubicBezTo>
                  <a:pt x="355521" y="295592"/>
                  <a:pt x="353378" y="289401"/>
                  <a:pt x="349329" y="284401"/>
                </a:cubicBezTo>
                <a:lnTo>
                  <a:pt x="341551" y="274717"/>
                </a:lnTo>
                <a:cubicBezTo>
                  <a:pt x="317818" y="244872"/>
                  <a:pt x="304800" y="207804"/>
                  <a:pt x="304800" y="169624"/>
                </a:cubicBezTo>
                <a:lnTo>
                  <a:pt x="304800" y="152400"/>
                </a:lnTo>
                <a:cubicBezTo>
                  <a:pt x="304800" y="90964"/>
                  <a:pt x="261144" y="39688"/>
                  <a:pt x="203200" y="27940"/>
                </a:cubicBezTo>
                <a:lnTo>
                  <a:pt x="203200" y="25400"/>
                </a:lnTo>
                <a:cubicBezTo>
                  <a:pt x="203200" y="11351"/>
                  <a:pt x="191849" y="0"/>
                  <a:pt x="177800" y="0"/>
                </a:cubicBezTo>
                <a:close/>
                <a:moveTo>
                  <a:pt x="128588" y="368300"/>
                </a:moveTo>
                <a:cubicBezTo>
                  <a:pt x="134223" y="390208"/>
                  <a:pt x="154146" y="406400"/>
                  <a:pt x="177800" y="406400"/>
                </a:cubicBezTo>
                <a:cubicBezTo>
                  <a:pt x="201454" y="406400"/>
                  <a:pt x="221377" y="390208"/>
                  <a:pt x="227013" y="368300"/>
                </a:cubicBezTo>
                <a:lnTo>
                  <a:pt x="128588" y="368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8948400" y="4762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BCF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948400" y="5143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42.3%</a:t>
            </a:r>
            <a:endParaRPr lang="en-US" sz="16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371600" y="6350000"/>
          <a:ext cx="10795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12674600" y="6350000"/>
          <a:ext cx="103378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26"/>
          <p:cNvSpPr/>
          <p:nvPr/>
        </p:nvSpPr>
        <p:spPr>
          <a:xfrm>
            <a:off x="1371600" y="11684000"/>
            <a:ext cx="2164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filters: Gender | Season | Shipping Type | Age Group | Subscription Status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94912-D1A6-F9BB-0D4C-941842F2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C049FDAC-206C-8FE4-3F98-18C2E135A9D6}"/>
              </a:ext>
            </a:extLst>
          </p:cNvPr>
          <p:cNvSpPr/>
          <p:nvPr/>
        </p:nvSpPr>
        <p:spPr>
          <a:xfrm>
            <a:off x="1244600" y="1282700"/>
            <a:ext cx="952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6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05E7A7-63EC-2561-B87C-A049F8C09189}"/>
              </a:ext>
            </a:extLst>
          </p:cNvPr>
          <p:cNvSpPr/>
          <p:nvPr/>
        </p:nvSpPr>
        <p:spPr>
          <a:xfrm>
            <a:off x="10922000" y="1574800"/>
            <a:ext cx="11938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350545-6947-E34D-E061-BE34FDDA286C}"/>
              </a:ext>
            </a:extLst>
          </p:cNvPr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E0994E-D6A1-8067-6D15-782D1E0B66C5}"/>
              </a:ext>
            </a:extLst>
          </p:cNvPr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7420D81-DA24-96C3-3FAA-1B7006FDE4EC}"/>
              </a:ext>
            </a:extLst>
          </p:cNvPr>
          <p:cNvSpPr/>
          <p:nvPr/>
        </p:nvSpPr>
        <p:spPr>
          <a:xfrm>
            <a:off x="18948400" y="4762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4250996-A62D-EF9D-4A8A-70F15F1C70D1}"/>
              </a:ext>
            </a:extLst>
          </p:cNvPr>
          <p:cNvSpPr/>
          <p:nvPr/>
        </p:nvSpPr>
        <p:spPr>
          <a:xfrm>
            <a:off x="18948400" y="5143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42.3</a:t>
            </a:r>
            <a:endParaRPr lang="en-US" sz="1600" dirty="0"/>
          </a:p>
        </p:txBody>
      </p:sp>
      <p:graphicFrame>
        <p:nvGraphicFramePr>
          <p:cNvPr id="29" name="Chart 1">
            <a:extLst>
              <a:ext uri="{FF2B5EF4-FFF2-40B4-BE49-F238E27FC236}">
                <a16:creationId xmlns:a16="http://schemas.microsoft.com/office/drawing/2014/main" id="{EA976056-87A8-73AD-3416-A9D622A5A345}"/>
              </a:ext>
            </a:extLst>
          </p:cNvPr>
          <p:cNvGraphicFramePr/>
          <p:nvPr/>
        </p:nvGraphicFramePr>
        <p:xfrm>
          <a:off x="12674600" y="6350000"/>
          <a:ext cx="103378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6">
            <a:extLst>
              <a:ext uri="{FF2B5EF4-FFF2-40B4-BE49-F238E27FC236}">
                <a16:creationId xmlns:a16="http://schemas.microsoft.com/office/drawing/2014/main" id="{6CB021DB-4BE1-A197-6F4C-2FD86C75443A}"/>
              </a:ext>
            </a:extLst>
          </p:cNvPr>
          <p:cNvSpPr/>
          <p:nvPr/>
        </p:nvSpPr>
        <p:spPr>
          <a:xfrm>
            <a:off x="1371600" y="11684000"/>
            <a:ext cx="2164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filters: Gender | Season | Shipping Type | Age Group | Subscription Status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5E228A2-4D4A-FE5A-2097-EF961ADC3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111" y="2523028"/>
            <a:ext cx="18529777" cy="1039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9895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rgbClr val="C7D2FE"/>
            </a:gs>
            <a:gs pos="50000">
              <a:srgbClr val="EEF2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34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854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2362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870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3378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3886200" y="3835400"/>
            <a:ext cx="368300" cy="33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1282700"/>
            <a:ext cx="901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87000" y="1574800"/>
            <a:ext cx="12573000" cy="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44600" y="2540000"/>
            <a:ext cx="635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0" y="8001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kern="0" spc="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6858000" cy="3429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572000"/>
            <a:ext cx="6858000" cy="10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758950" y="495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0"/>
                </a:moveTo>
                <a:cubicBezTo>
                  <a:pt x="204688" y="0"/>
                  <a:pt x="190500" y="14188"/>
                  <a:pt x="190500" y="31750"/>
                </a:cubicBezTo>
                <a:lnTo>
                  <a:pt x="190500" y="34925"/>
                </a:lnTo>
                <a:cubicBezTo>
                  <a:pt x="118070" y="49609"/>
                  <a:pt x="63500" y="113705"/>
                  <a:pt x="63500" y="190500"/>
                </a:cubicBezTo>
                <a:lnTo>
                  <a:pt x="63500" y="212030"/>
                </a:lnTo>
                <a:cubicBezTo>
                  <a:pt x="63500" y="259755"/>
                  <a:pt x="47228" y="306090"/>
                  <a:pt x="17463" y="343396"/>
                </a:cubicBezTo>
                <a:lnTo>
                  <a:pt x="7739" y="355501"/>
                </a:lnTo>
                <a:cubicBezTo>
                  <a:pt x="2679" y="361752"/>
                  <a:pt x="0" y="369491"/>
                  <a:pt x="0" y="377527"/>
                </a:cubicBezTo>
                <a:cubicBezTo>
                  <a:pt x="0" y="396974"/>
                  <a:pt x="15776" y="412750"/>
                  <a:pt x="35223" y="412750"/>
                </a:cubicBezTo>
                <a:lnTo>
                  <a:pt x="409178" y="412750"/>
                </a:lnTo>
                <a:cubicBezTo>
                  <a:pt x="428625" y="412750"/>
                  <a:pt x="444401" y="396974"/>
                  <a:pt x="444401" y="377527"/>
                </a:cubicBezTo>
                <a:cubicBezTo>
                  <a:pt x="444401" y="369491"/>
                  <a:pt x="441722" y="361752"/>
                  <a:pt x="436662" y="355501"/>
                </a:cubicBezTo>
                <a:lnTo>
                  <a:pt x="426938" y="343396"/>
                </a:lnTo>
                <a:cubicBezTo>
                  <a:pt x="397272" y="306090"/>
                  <a:pt x="381000" y="259755"/>
                  <a:pt x="381000" y="212030"/>
                </a:cubicBezTo>
                <a:lnTo>
                  <a:pt x="381000" y="190500"/>
                </a:lnTo>
                <a:cubicBezTo>
                  <a:pt x="381000" y="113705"/>
                  <a:pt x="326430" y="49609"/>
                  <a:pt x="254000" y="34925"/>
                </a:cubicBezTo>
                <a:lnTo>
                  <a:pt x="254000" y="31750"/>
                </a:lnTo>
                <a:cubicBezTo>
                  <a:pt x="254000" y="14188"/>
                  <a:pt x="239812" y="0"/>
                  <a:pt x="222250" y="0"/>
                </a:cubicBezTo>
                <a:close/>
                <a:moveTo>
                  <a:pt x="160734" y="460375"/>
                </a:moveTo>
                <a:cubicBezTo>
                  <a:pt x="167779" y="487759"/>
                  <a:pt x="192683" y="508000"/>
                  <a:pt x="222250" y="508000"/>
                </a:cubicBezTo>
                <a:cubicBezTo>
                  <a:pt x="251817" y="508000"/>
                  <a:pt x="276721" y="487759"/>
                  <a:pt x="283766" y="460375"/>
                </a:cubicBezTo>
                <a:lnTo>
                  <a:pt x="160734" y="460375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413000" y="495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27200" y="5651500"/>
            <a:ext cx="6146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Boost Subscriptions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27200" y="6286500"/>
            <a:ext cx="614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Promote exclusive benefits for subscribers to increase retention and drive recurring revenue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83600" y="4572000"/>
            <a:ext cx="6858000" cy="34290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83600" y="4572000"/>
            <a:ext cx="6858000" cy="10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839200" y="495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8988" y="68263"/>
                </a:moveTo>
                <a:cubicBezTo>
                  <a:pt x="326529" y="55463"/>
                  <a:pt x="340221" y="47625"/>
                  <a:pt x="355005" y="47625"/>
                </a:cubicBezTo>
                <a:lnTo>
                  <a:pt x="357188" y="47625"/>
                </a:lnTo>
                <a:cubicBezTo>
                  <a:pt x="379115" y="47625"/>
                  <a:pt x="396875" y="65385"/>
                  <a:pt x="396875" y="87313"/>
                </a:cubicBezTo>
                <a:cubicBezTo>
                  <a:pt x="396875" y="109240"/>
                  <a:pt x="379115" y="127000"/>
                  <a:pt x="357188" y="127000"/>
                </a:cubicBezTo>
                <a:lnTo>
                  <a:pt x="284460" y="127000"/>
                </a:lnTo>
                <a:lnTo>
                  <a:pt x="318988" y="68263"/>
                </a:lnTo>
                <a:close/>
                <a:moveTo>
                  <a:pt x="189012" y="68263"/>
                </a:moveTo>
                <a:lnTo>
                  <a:pt x="223540" y="127000"/>
                </a:lnTo>
                <a:lnTo>
                  <a:pt x="150813" y="127000"/>
                </a:lnTo>
                <a:cubicBezTo>
                  <a:pt x="128885" y="127000"/>
                  <a:pt x="111125" y="109240"/>
                  <a:pt x="111125" y="87313"/>
                </a:cubicBezTo>
                <a:cubicBezTo>
                  <a:pt x="111125" y="65385"/>
                  <a:pt x="128885" y="47625"/>
                  <a:pt x="150813" y="47625"/>
                </a:cubicBezTo>
                <a:lnTo>
                  <a:pt x="152995" y="47625"/>
                </a:lnTo>
                <a:cubicBezTo>
                  <a:pt x="167779" y="47625"/>
                  <a:pt x="181570" y="55463"/>
                  <a:pt x="189012" y="68263"/>
                </a:cubicBezTo>
                <a:close/>
                <a:moveTo>
                  <a:pt x="277912" y="44152"/>
                </a:moveTo>
                <a:lnTo>
                  <a:pt x="254000" y="84832"/>
                </a:lnTo>
                <a:lnTo>
                  <a:pt x="230088" y="44152"/>
                </a:lnTo>
                <a:cubicBezTo>
                  <a:pt x="214015" y="16768"/>
                  <a:pt x="184646" y="0"/>
                  <a:pt x="152995" y="0"/>
                </a:cubicBezTo>
                <a:lnTo>
                  <a:pt x="150813" y="0"/>
                </a:lnTo>
                <a:cubicBezTo>
                  <a:pt x="102592" y="0"/>
                  <a:pt x="63500" y="39092"/>
                  <a:pt x="63500" y="87313"/>
                </a:cubicBezTo>
                <a:cubicBezTo>
                  <a:pt x="63500" y="101600"/>
                  <a:pt x="66973" y="115094"/>
                  <a:pt x="73025" y="127000"/>
                </a:cubicBezTo>
                <a:lnTo>
                  <a:pt x="31750" y="127000"/>
                </a:lnTo>
                <a:cubicBezTo>
                  <a:pt x="14188" y="127000"/>
                  <a:pt x="0" y="141188"/>
                  <a:pt x="0" y="158750"/>
                </a:cubicBezTo>
                <a:lnTo>
                  <a:pt x="0" y="190500"/>
                </a:lnTo>
                <a:cubicBezTo>
                  <a:pt x="0" y="208062"/>
                  <a:pt x="14188" y="222250"/>
                  <a:pt x="31750" y="222250"/>
                </a:cubicBezTo>
                <a:lnTo>
                  <a:pt x="476250" y="222250"/>
                </a:lnTo>
                <a:cubicBezTo>
                  <a:pt x="493812" y="222250"/>
                  <a:pt x="508000" y="208062"/>
                  <a:pt x="508000" y="190500"/>
                </a:cubicBezTo>
                <a:lnTo>
                  <a:pt x="508000" y="158750"/>
                </a:lnTo>
                <a:cubicBezTo>
                  <a:pt x="508000" y="141188"/>
                  <a:pt x="493812" y="127000"/>
                  <a:pt x="476250" y="127000"/>
                </a:cubicBezTo>
                <a:lnTo>
                  <a:pt x="434975" y="127000"/>
                </a:lnTo>
                <a:cubicBezTo>
                  <a:pt x="441027" y="115094"/>
                  <a:pt x="444500" y="101600"/>
                  <a:pt x="444500" y="87313"/>
                </a:cubicBezTo>
                <a:cubicBezTo>
                  <a:pt x="444500" y="39092"/>
                  <a:pt x="405408" y="0"/>
                  <a:pt x="357188" y="0"/>
                </a:cubicBezTo>
                <a:lnTo>
                  <a:pt x="355005" y="0"/>
                </a:lnTo>
                <a:cubicBezTo>
                  <a:pt x="323354" y="0"/>
                  <a:pt x="293985" y="16768"/>
                  <a:pt x="277912" y="44053"/>
                </a:cubicBezTo>
                <a:close/>
                <a:moveTo>
                  <a:pt x="476250" y="269875"/>
                </a:moveTo>
                <a:lnTo>
                  <a:pt x="277813" y="269875"/>
                </a:lnTo>
                <a:lnTo>
                  <a:pt x="277813" y="476250"/>
                </a:lnTo>
                <a:lnTo>
                  <a:pt x="412750" y="476250"/>
                </a:lnTo>
                <a:cubicBezTo>
                  <a:pt x="447774" y="476250"/>
                  <a:pt x="476250" y="447774"/>
                  <a:pt x="476250" y="412750"/>
                </a:cubicBezTo>
                <a:lnTo>
                  <a:pt x="476250" y="269875"/>
                </a:lnTo>
                <a:close/>
                <a:moveTo>
                  <a:pt x="230188" y="269875"/>
                </a:moveTo>
                <a:lnTo>
                  <a:pt x="31750" y="269875"/>
                </a:lnTo>
                <a:lnTo>
                  <a:pt x="31750" y="412750"/>
                </a:lnTo>
                <a:cubicBezTo>
                  <a:pt x="31750" y="447774"/>
                  <a:pt x="60226" y="476250"/>
                  <a:pt x="95250" y="476250"/>
                </a:cubicBezTo>
                <a:lnTo>
                  <a:pt x="230188" y="476250"/>
                </a:lnTo>
                <a:lnTo>
                  <a:pt x="230188" y="2698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495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39200" y="5651500"/>
            <a:ext cx="6146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Loyalty Programs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39200" y="6286500"/>
            <a:ext cx="61468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Reward repeat buyers to move them into the "Loyal" segment and increase lifetime value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595600" y="4572000"/>
            <a:ext cx="7416800" cy="34290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95600" y="4572000"/>
            <a:ext cx="7416800" cy="101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19450" y="495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98066" y="38795"/>
                </a:moveTo>
                <a:lnTo>
                  <a:pt x="545108" y="187920"/>
                </a:lnTo>
                <a:cubicBezTo>
                  <a:pt x="572591" y="215801"/>
                  <a:pt x="572591" y="260449"/>
                  <a:pt x="545108" y="288330"/>
                </a:cubicBezTo>
                <a:lnTo>
                  <a:pt x="389930" y="445393"/>
                </a:lnTo>
                <a:cubicBezTo>
                  <a:pt x="380702" y="454720"/>
                  <a:pt x="365621" y="454819"/>
                  <a:pt x="356295" y="445591"/>
                </a:cubicBezTo>
                <a:cubicBezTo>
                  <a:pt x="346968" y="436364"/>
                  <a:pt x="346869" y="421283"/>
                  <a:pt x="356096" y="411956"/>
                </a:cubicBezTo>
                <a:lnTo>
                  <a:pt x="511274" y="254794"/>
                </a:lnTo>
                <a:cubicBezTo>
                  <a:pt x="520402" y="245566"/>
                  <a:pt x="520402" y="230584"/>
                  <a:pt x="511274" y="221357"/>
                </a:cubicBezTo>
                <a:lnTo>
                  <a:pt x="364133" y="72330"/>
                </a:lnTo>
                <a:cubicBezTo>
                  <a:pt x="354905" y="63004"/>
                  <a:pt x="355005" y="47923"/>
                  <a:pt x="364331" y="38695"/>
                </a:cubicBezTo>
                <a:cubicBezTo>
                  <a:pt x="373658" y="29468"/>
                  <a:pt x="388739" y="29567"/>
                  <a:pt x="397966" y="38894"/>
                </a:cubicBezTo>
                <a:close/>
                <a:moveTo>
                  <a:pt x="31849" y="227707"/>
                </a:moveTo>
                <a:lnTo>
                  <a:pt x="31849" y="95250"/>
                </a:lnTo>
                <a:cubicBezTo>
                  <a:pt x="31849" y="60226"/>
                  <a:pt x="60325" y="31750"/>
                  <a:pt x="95349" y="31750"/>
                </a:cubicBezTo>
                <a:lnTo>
                  <a:pt x="227806" y="31750"/>
                </a:lnTo>
                <a:cubicBezTo>
                  <a:pt x="244673" y="31750"/>
                  <a:pt x="260846" y="38398"/>
                  <a:pt x="272752" y="50304"/>
                </a:cubicBezTo>
                <a:lnTo>
                  <a:pt x="415627" y="193179"/>
                </a:lnTo>
                <a:cubicBezTo>
                  <a:pt x="440432" y="217984"/>
                  <a:pt x="440432" y="258167"/>
                  <a:pt x="415627" y="282972"/>
                </a:cubicBezTo>
                <a:lnTo>
                  <a:pt x="283170" y="415429"/>
                </a:lnTo>
                <a:cubicBezTo>
                  <a:pt x="258366" y="440234"/>
                  <a:pt x="218182" y="440234"/>
                  <a:pt x="193377" y="415429"/>
                </a:cubicBezTo>
                <a:lnTo>
                  <a:pt x="50502" y="272554"/>
                </a:lnTo>
                <a:cubicBezTo>
                  <a:pt x="38596" y="260648"/>
                  <a:pt x="31948" y="244475"/>
                  <a:pt x="31948" y="227608"/>
                </a:cubicBezTo>
                <a:close/>
                <a:moveTo>
                  <a:pt x="174724" y="142875"/>
                </a:moveTo>
                <a:cubicBezTo>
                  <a:pt x="174724" y="125352"/>
                  <a:pt x="160498" y="111125"/>
                  <a:pt x="142974" y="111125"/>
                </a:cubicBezTo>
                <a:cubicBezTo>
                  <a:pt x="125451" y="111125"/>
                  <a:pt x="111224" y="125352"/>
                  <a:pt x="111224" y="142875"/>
                </a:cubicBezTo>
                <a:cubicBezTo>
                  <a:pt x="111224" y="160398"/>
                  <a:pt x="125451" y="174625"/>
                  <a:pt x="142974" y="174625"/>
                </a:cubicBezTo>
                <a:cubicBezTo>
                  <a:pt x="160498" y="174625"/>
                  <a:pt x="174724" y="160398"/>
                  <a:pt x="174724" y="14287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16637000" y="495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951200" y="5651500"/>
            <a:ext cx="6705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951200" y="6286500"/>
            <a:ext cx="6705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sales boosts with margin control on discount-dependent products to protect profitability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71600" y="8382000"/>
            <a:ext cx="10795000" cy="3429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0" y="8382000"/>
            <a:ext cx="10795000" cy="10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727200" y="876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7597" y="18752"/>
                </a:moveTo>
                <a:cubicBezTo>
                  <a:pt x="469007" y="23812"/>
                  <a:pt x="476250" y="35123"/>
                  <a:pt x="476250" y="47625"/>
                </a:cubicBezTo>
                <a:lnTo>
                  <a:pt x="476250" y="460375"/>
                </a:lnTo>
                <a:cubicBezTo>
                  <a:pt x="476250" y="472877"/>
                  <a:pt x="469007" y="484187"/>
                  <a:pt x="457597" y="489248"/>
                </a:cubicBezTo>
                <a:cubicBezTo>
                  <a:pt x="446187" y="494308"/>
                  <a:pt x="432991" y="492423"/>
                  <a:pt x="423565" y="484187"/>
                </a:cubicBezTo>
                <a:lnTo>
                  <a:pt x="377329" y="443805"/>
                </a:lnTo>
                <a:cubicBezTo>
                  <a:pt x="334070" y="406003"/>
                  <a:pt x="279400" y="383977"/>
                  <a:pt x="222151" y="381298"/>
                </a:cubicBezTo>
                <a:lnTo>
                  <a:pt x="222151" y="476250"/>
                </a:lnTo>
                <a:cubicBezTo>
                  <a:pt x="222151" y="493812"/>
                  <a:pt x="207962" y="508000"/>
                  <a:pt x="190401" y="508000"/>
                </a:cubicBezTo>
                <a:lnTo>
                  <a:pt x="158651" y="508000"/>
                </a:lnTo>
                <a:cubicBezTo>
                  <a:pt x="141089" y="508000"/>
                  <a:pt x="126901" y="493812"/>
                  <a:pt x="126901" y="476250"/>
                </a:cubicBezTo>
                <a:lnTo>
                  <a:pt x="126901" y="381000"/>
                </a:lnTo>
                <a:cubicBezTo>
                  <a:pt x="56852" y="381000"/>
                  <a:pt x="0" y="324148"/>
                  <a:pt x="0" y="254000"/>
                </a:cubicBezTo>
                <a:cubicBezTo>
                  <a:pt x="0" y="183852"/>
                  <a:pt x="56852" y="127000"/>
                  <a:pt x="127000" y="127000"/>
                </a:cubicBezTo>
                <a:lnTo>
                  <a:pt x="210840" y="127000"/>
                </a:lnTo>
                <a:cubicBezTo>
                  <a:pt x="272157" y="126802"/>
                  <a:pt x="331291" y="104477"/>
                  <a:pt x="377428" y="64195"/>
                </a:cubicBezTo>
                <a:lnTo>
                  <a:pt x="423664" y="23812"/>
                </a:lnTo>
                <a:cubicBezTo>
                  <a:pt x="432991" y="15577"/>
                  <a:pt x="446385" y="13692"/>
                  <a:pt x="457696" y="18752"/>
                </a:cubicBezTo>
                <a:close/>
                <a:moveTo>
                  <a:pt x="222250" y="317500"/>
                </a:moveTo>
                <a:lnTo>
                  <a:pt x="222250" y="317698"/>
                </a:lnTo>
                <a:cubicBezTo>
                  <a:pt x="292001" y="320377"/>
                  <a:pt x="358973" y="345976"/>
                  <a:pt x="412750" y="390525"/>
                </a:cubicBezTo>
                <a:lnTo>
                  <a:pt x="412750" y="117376"/>
                </a:lnTo>
                <a:cubicBezTo>
                  <a:pt x="358973" y="161925"/>
                  <a:pt x="292001" y="187523"/>
                  <a:pt x="222250" y="190202"/>
                </a:cubicBezTo>
                <a:lnTo>
                  <a:pt x="222250" y="31750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2413000" y="876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7200" y="9461500"/>
            <a:ext cx="10083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Positioning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27200" y="10096500"/>
            <a:ext cx="10083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 top-rated and best-selling products in marketing campaigns to maximize conversion rates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420600" y="8382000"/>
            <a:ext cx="10591800" cy="3429000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8B5CF6"/>
              </a:gs>
            </a:gsLst>
            <a:lin ang="81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12744450" y="876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15875"/>
                </a:moveTo>
                <a:cubicBezTo>
                  <a:pt x="303312" y="-15875"/>
                  <a:pt x="317500" y="-1687"/>
                  <a:pt x="317500" y="15875"/>
                </a:cubicBezTo>
                <a:lnTo>
                  <a:pt x="317500" y="34032"/>
                </a:lnTo>
                <a:cubicBezTo>
                  <a:pt x="414834" y="47923"/>
                  <a:pt x="491827" y="124916"/>
                  <a:pt x="505718" y="222250"/>
                </a:cubicBezTo>
                <a:lnTo>
                  <a:pt x="523875" y="222250"/>
                </a:lnTo>
                <a:cubicBezTo>
                  <a:pt x="541437" y="222250"/>
                  <a:pt x="555625" y="236438"/>
                  <a:pt x="555625" y="254000"/>
                </a:cubicBezTo>
                <a:cubicBezTo>
                  <a:pt x="555625" y="271562"/>
                  <a:pt x="541437" y="285750"/>
                  <a:pt x="523875" y="285750"/>
                </a:cubicBezTo>
                <a:lnTo>
                  <a:pt x="505718" y="285750"/>
                </a:lnTo>
                <a:cubicBezTo>
                  <a:pt x="491827" y="383084"/>
                  <a:pt x="414834" y="460077"/>
                  <a:pt x="317500" y="473968"/>
                </a:cubicBezTo>
                <a:lnTo>
                  <a:pt x="317500" y="492125"/>
                </a:lnTo>
                <a:cubicBezTo>
                  <a:pt x="317500" y="509687"/>
                  <a:pt x="303312" y="523875"/>
                  <a:pt x="285750" y="523875"/>
                </a:cubicBezTo>
                <a:cubicBezTo>
                  <a:pt x="268188" y="523875"/>
                  <a:pt x="254000" y="509687"/>
                  <a:pt x="254000" y="492125"/>
                </a:cubicBezTo>
                <a:lnTo>
                  <a:pt x="254000" y="473968"/>
                </a:lnTo>
                <a:cubicBezTo>
                  <a:pt x="156666" y="460077"/>
                  <a:pt x="79673" y="383084"/>
                  <a:pt x="65782" y="285750"/>
                </a:cubicBezTo>
                <a:lnTo>
                  <a:pt x="47625" y="285750"/>
                </a:lnTo>
                <a:cubicBezTo>
                  <a:pt x="30063" y="285750"/>
                  <a:pt x="15875" y="271562"/>
                  <a:pt x="15875" y="254000"/>
                </a:cubicBezTo>
                <a:cubicBezTo>
                  <a:pt x="15875" y="236438"/>
                  <a:pt x="30063" y="222250"/>
                  <a:pt x="47625" y="222250"/>
                </a:cubicBezTo>
                <a:lnTo>
                  <a:pt x="65782" y="222250"/>
                </a:lnTo>
                <a:cubicBezTo>
                  <a:pt x="79673" y="124916"/>
                  <a:pt x="156666" y="47923"/>
                  <a:pt x="254000" y="34032"/>
                </a:cubicBezTo>
                <a:lnTo>
                  <a:pt x="254000" y="15875"/>
                </a:lnTo>
                <a:cubicBezTo>
                  <a:pt x="254000" y="-1687"/>
                  <a:pt x="268188" y="-15875"/>
                  <a:pt x="285750" y="-15875"/>
                </a:cubicBezTo>
                <a:close/>
                <a:moveTo>
                  <a:pt x="130175" y="285750"/>
                </a:moveTo>
                <a:cubicBezTo>
                  <a:pt x="142776" y="347960"/>
                  <a:pt x="191790" y="396974"/>
                  <a:pt x="254000" y="409575"/>
                </a:cubicBezTo>
                <a:lnTo>
                  <a:pt x="254000" y="396875"/>
                </a:lnTo>
                <a:cubicBezTo>
                  <a:pt x="254000" y="379313"/>
                  <a:pt x="268188" y="365125"/>
                  <a:pt x="285750" y="365125"/>
                </a:cubicBezTo>
                <a:cubicBezTo>
                  <a:pt x="303312" y="365125"/>
                  <a:pt x="317500" y="379313"/>
                  <a:pt x="317500" y="396875"/>
                </a:cubicBezTo>
                <a:lnTo>
                  <a:pt x="317500" y="409575"/>
                </a:lnTo>
                <a:cubicBezTo>
                  <a:pt x="379710" y="396974"/>
                  <a:pt x="428724" y="347960"/>
                  <a:pt x="441325" y="285750"/>
                </a:cubicBezTo>
                <a:lnTo>
                  <a:pt x="428625" y="285750"/>
                </a:lnTo>
                <a:cubicBezTo>
                  <a:pt x="411063" y="285750"/>
                  <a:pt x="396875" y="271562"/>
                  <a:pt x="396875" y="254000"/>
                </a:cubicBezTo>
                <a:cubicBezTo>
                  <a:pt x="396875" y="236438"/>
                  <a:pt x="411063" y="222250"/>
                  <a:pt x="428625" y="222250"/>
                </a:cubicBezTo>
                <a:lnTo>
                  <a:pt x="441325" y="222250"/>
                </a:lnTo>
                <a:cubicBezTo>
                  <a:pt x="428724" y="160040"/>
                  <a:pt x="379710" y="111026"/>
                  <a:pt x="317500" y="98425"/>
                </a:cubicBezTo>
                <a:lnTo>
                  <a:pt x="317500" y="111125"/>
                </a:lnTo>
                <a:cubicBezTo>
                  <a:pt x="317500" y="128687"/>
                  <a:pt x="303312" y="142875"/>
                  <a:pt x="285750" y="142875"/>
                </a:cubicBezTo>
                <a:cubicBezTo>
                  <a:pt x="268188" y="142875"/>
                  <a:pt x="254000" y="128687"/>
                  <a:pt x="254000" y="111125"/>
                </a:cubicBezTo>
                <a:lnTo>
                  <a:pt x="254000" y="98425"/>
                </a:lnTo>
                <a:cubicBezTo>
                  <a:pt x="191790" y="111026"/>
                  <a:pt x="142776" y="160040"/>
                  <a:pt x="130175" y="222250"/>
                </a:cubicBezTo>
                <a:lnTo>
                  <a:pt x="142875" y="222250"/>
                </a:lnTo>
                <a:cubicBezTo>
                  <a:pt x="160437" y="222250"/>
                  <a:pt x="174625" y="236438"/>
                  <a:pt x="174625" y="254000"/>
                </a:cubicBezTo>
                <a:cubicBezTo>
                  <a:pt x="174625" y="271562"/>
                  <a:pt x="160437" y="285750"/>
                  <a:pt x="142875" y="285750"/>
                </a:cubicBezTo>
                <a:lnTo>
                  <a:pt x="130175" y="285750"/>
                </a:lnTo>
                <a:close/>
                <a:moveTo>
                  <a:pt x="285750" y="206375"/>
                </a:moveTo>
                <a:cubicBezTo>
                  <a:pt x="312035" y="206375"/>
                  <a:pt x="333375" y="227715"/>
                  <a:pt x="333375" y="254000"/>
                </a:cubicBezTo>
                <a:cubicBezTo>
                  <a:pt x="333375" y="280285"/>
                  <a:pt x="312035" y="301625"/>
                  <a:pt x="285750" y="301625"/>
                </a:cubicBezTo>
                <a:cubicBezTo>
                  <a:pt x="259465" y="301625"/>
                  <a:pt x="238125" y="280285"/>
                  <a:pt x="238125" y="254000"/>
                </a:cubicBezTo>
                <a:cubicBezTo>
                  <a:pt x="238125" y="227715"/>
                  <a:pt x="259465" y="206375"/>
                  <a:pt x="285750" y="206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3462000" y="876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7D2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776200" y="9461500"/>
            <a:ext cx="9880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776200" y="10096500"/>
            <a:ext cx="9880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E0E7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marketing efforts on high-revenue age groups (18-35) and express-shipping users for optimal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rgbClr val="0F172A"/>
            </a:gs>
            <a:gs pos="40000">
              <a:srgbClr val="1E1B4B"/>
            </a:gs>
            <a:gs pos="70000">
              <a:srgbClr val="312E81"/>
            </a:gs>
            <a:gs pos="100000">
              <a:srgbClr val="4F46E5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0" y="1270000"/>
            <a:ext cx="7620000" cy="6350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25000"/>
                </a:srgbClr>
              </a:gs>
              <a:gs pos="100000">
                <a:srgbClr val="8B5CF6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270000" y="5080000"/>
            <a:ext cx="6350000" cy="6350000"/>
          </a:xfrm>
          <a:prstGeom prst="ellipse">
            <a:avLst/>
          </a:prstGeom>
          <a:gradFill flip="none" rotWithShape="1">
            <a:gsLst>
              <a:gs pos="0">
                <a:srgbClr val="EC4899">
                  <a:alpha val="19000"/>
                </a:srgbClr>
              </a:gs>
              <a:gs pos="100000">
                <a:srgbClr val="EC4899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244600" y="1524000"/>
            <a:ext cx="1524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4600" y="317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C7D2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 &amp; 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4600" y="4191000"/>
            <a:ext cx="6350000" cy="0"/>
          </a:xfrm>
          <a:prstGeom prst="straightConnector1">
            <a:avLst/>
          </a:prstGeom>
          <a:noFill/>
          <a:ln w="25400">
            <a:solidFill>
              <a:srgbClr val="EC489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44600" y="4572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successfully transformed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transactional retail data</a:t>
            </a:r>
            <a:r>
              <a:rPr lang="en-US" sz="2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actionable business insights using a complete analytics pipeline — from Python data cleaning and feature engineering, through SQL business analysis, to Power BI interactive visualization.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4600" y="7366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4600" y="8128000"/>
            <a:ext cx="1778000" cy="635000"/>
          </a:xfrm>
          <a:prstGeom prst="rect">
            <a:avLst/>
          </a:prstGeom>
          <a:solidFill>
            <a:srgbClr val="4F46E5">
              <a:alpha val="18824"/>
            </a:srgbClr>
          </a:solidFill>
          <a:ln w="12700">
            <a:solidFill>
              <a:srgbClr val="4F46E5">
                <a:alpha val="37647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4600" y="8128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76600" y="8128000"/>
            <a:ext cx="1778000" cy="635000"/>
          </a:xfrm>
          <a:prstGeom prst="rect">
            <a:avLst/>
          </a:prstGeom>
          <a:solidFill>
            <a:srgbClr val="3B82F6">
              <a:alpha val="18824"/>
            </a:srgbClr>
          </a:solidFill>
          <a:ln w="12700">
            <a:solidFill>
              <a:srgbClr val="3B82F6">
                <a:alpha val="37647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6600" y="8128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8600" y="8128000"/>
            <a:ext cx="1778000" cy="635000"/>
          </a:xfrm>
          <a:prstGeom prst="rect">
            <a:avLst/>
          </a:prstGeom>
          <a:solidFill>
            <a:srgbClr val="8B5CF6">
              <a:alpha val="18824"/>
            </a:srgbClr>
          </a:solidFill>
          <a:ln w="12700">
            <a:solidFill>
              <a:srgbClr val="8B5CF6">
                <a:alpha val="37647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8600" y="8128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40600" y="8128000"/>
            <a:ext cx="1778000" cy="635000"/>
          </a:xfrm>
          <a:prstGeom prst="rect">
            <a:avLst/>
          </a:prstGeom>
          <a:solidFill>
            <a:srgbClr val="4F46E5">
              <a:alpha val="18824"/>
            </a:srgbClr>
          </a:solidFill>
          <a:ln w="12700">
            <a:solidFill>
              <a:srgbClr val="4F46E5">
                <a:alpha val="37647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0600" y="8128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4600" y="9017000"/>
            <a:ext cx="1778000" cy="635000"/>
          </a:xfrm>
          <a:prstGeom prst="rect">
            <a:avLst/>
          </a:prstGeom>
          <a:solidFill>
            <a:srgbClr val="3B82F6">
              <a:alpha val="18824"/>
            </a:srgbClr>
          </a:solidFill>
          <a:ln w="12700">
            <a:solidFill>
              <a:srgbClr val="3B82F6">
                <a:alpha val="37647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4600" y="901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76600" y="9017000"/>
            <a:ext cx="1778000" cy="635000"/>
          </a:xfrm>
          <a:prstGeom prst="rect">
            <a:avLst/>
          </a:prstGeom>
          <a:solidFill>
            <a:srgbClr val="EC4899">
              <a:alpha val="18824"/>
            </a:srgbClr>
          </a:solidFill>
          <a:ln w="12700">
            <a:solidFill>
              <a:srgbClr val="EC4899">
                <a:alpha val="37647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6600" y="901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8600" y="9017000"/>
            <a:ext cx="1778000" cy="635000"/>
          </a:xfrm>
          <a:prstGeom prst="rect">
            <a:avLst/>
          </a:prstGeom>
          <a:solidFill>
            <a:srgbClr val="8B5CF6">
              <a:alpha val="18824"/>
            </a:srgbClr>
          </a:solidFill>
          <a:ln w="12700">
            <a:solidFill>
              <a:srgbClr val="8B5CF6">
                <a:alpha val="37647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8600" y="901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Jupyter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970000" y="4572000"/>
            <a:ext cx="9144000" cy="5334000"/>
          </a:xfrm>
          <a:prstGeom prst="rect">
            <a:avLst/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351000" y="4953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351000" y="5715000"/>
            <a:ext cx="2540000" cy="0"/>
          </a:xfrm>
          <a:prstGeom prst="straightConnector1">
            <a:avLst/>
          </a:prstGeom>
          <a:noFill/>
          <a:ln w="25400">
            <a:solidFill>
              <a:srgbClr val="C7D2FE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4351000" y="59690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Cleaned and engineered 3,900 retail records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51000" y="67310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Solved 10 business questions with advanced SQL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351000" y="74930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Built interactive Power BI 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351000" y="82550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Delivered 5 actionable business recommendations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351000" y="9144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44600" y="10795000"/>
            <a:ext cx="5080000" cy="50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18059400" y="10795000"/>
            <a:ext cx="5080000" cy="50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244600" y="1104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Data Analytics Project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789400" y="1104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· SQL · Power BI ·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1194</Words>
  <Application>Microsoft Office PowerPoint</Application>
  <PresentationFormat>Custom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</dc:subject>
  <dc:creator>Kimi</dc:creator>
  <cp:lastModifiedBy>barvemadhura2006@outlook.com</cp:lastModifiedBy>
  <cp:revision>2</cp:revision>
  <dcterms:created xsi:type="dcterms:W3CDTF">2026-05-22T07:34:10Z</dcterms:created>
  <dcterms:modified xsi:type="dcterms:W3CDTF">2026-05-22T07:44:00Z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{"Label":"Customer Shopping Behavior Analysis","ContentProducer":"001191110108MACG2KBH8F10000","ProduceID":"19e4e288-42c2-8967-8000-0000e17c8115","ReservedCode1":"","ContentPropagator":"001191110108MACG2KBH8F20000","PropagateID":"19e4e288-42c2-8967-8000-0000e17c8115","ReservedCode2":""}</vt:lpwstr>
  </property>
</Properties>
</file>